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3"/>
  </p:handoutMasterIdLst>
  <p:sldIdLst>
    <p:sldId id="256" r:id="rId3"/>
    <p:sldId id="259" r:id="rId5"/>
    <p:sldId id="263" r:id="rId6"/>
    <p:sldId id="293" r:id="rId7"/>
    <p:sldId id="346" r:id="rId8"/>
    <p:sldId id="345" r:id="rId9"/>
    <p:sldId id="260" r:id="rId10"/>
    <p:sldId id="349" r:id="rId11"/>
    <p:sldId id="350" r:id="rId12"/>
    <p:sldId id="347" r:id="rId13"/>
    <p:sldId id="352" r:id="rId14"/>
    <p:sldId id="354" r:id="rId15"/>
    <p:sldId id="353" r:id="rId16"/>
    <p:sldId id="355" r:id="rId17"/>
    <p:sldId id="359" r:id="rId18"/>
    <p:sldId id="358" r:id="rId19"/>
    <p:sldId id="357" r:id="rId20"/>
    <p:sldId id="360" r:id="rId21"/>
    <p:sldId id="351" r:id="rId22"/>
  </p:sldIdLst>
  <p:sldSz cx="12192000" cy="6858000"/>
  <p:notesSz cx="6858000" cy="9144000"/>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BC5E"/>
    <a:srgbClr val="14CD68"/>
    <a:srgbClr val="3FBBD5"/>
    <a:srgbClr val="00A3D8"/>
    <a:srgbClr val="00B4F6"/>
    <a:srgbClr val="00B9FF"/>
    <a:srgbClr val="00B9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5" autoAdjust="0"/>
  </p:normalViewPr>
  <p:slideViewPr>
    <p:cSldViewPr snapToGrid="0">
      <p:cViewPr varScale="1">
        <p:scale>
          <a:sx n="108" d="100"/>
          <a:sy n="108" d="100"/>
        </p:scale>
        <p:origin x="720" y="1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960" y="96"/>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customXml" Target="../customXml/item3.xml"/><Relationship Id="rId28" Type="http://schemas.openxmlformats.org/officeDocument/2006/relationships/customXml" Target="../customXml/item2.xml"/><Relationship Id="rId27" Type="http://schemas.openxmlformats.org/officeDocument/2006/relationships/customXml" Target="../customXml/item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8CAD799-DDDE-492B-99B6-DDC046C4ED57}" type="datetime1">
              <a:rPr lang="tr-TR" smtClean="0"/>
            </a:fld>
            <a:endParaRPr lang="tr-TR"/>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775EF03-110B-4710-A708-FEF1927612B9}" type="slidenum">
              <a:rPr lang="tr-TR" smtClean="0"/>
            </a:fld>
            <a:endParaRPr lang="tr-T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EB1369C-99DB-4685-BAB6-E92612F9C3FA}" type="datetime1">
              <a:rPr lang="tr-TR" noProof="0" smtClean="0"/>
            </a:fld>
            <a:endParaRPr lang="tr-TR" noProof="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a:t>Asıl metin stillerini düzenle</a:t>
            </a:r>
            <a:endParaRPr lang="tr-TR" noProof="0"/>
          </a:p>
          <a:p>
            <a:pPr lvl="1" rtl="0"/>
            <a:r>
              <a:rPr lang="tr-TR" noProof="0"/>
              <a:t>İkinci düzey</a:t>
            </a:r>
            <a:endParaRPr lang="tr-TR" noProof="0"/>
          </a:p>
          <a:p>
            <a:pPr lvl="2" rtl="0"/>
            <a:r>
              <a:rPr lang="tr-TR" noProof="0"/>
              <a:t>Üçüncü düzey</a:t>
            </a:r>
            <a:endParaRPr lang="tr-TR" noProof="0"/>
          </a:p>
          <a:p>
            <a:pPr lvl="3" rtl="0"/>
            <a:r>
              <a:rPr lang="tr-TR" noProof="0"/>
              <a:t>Dördüncü düzey</a:t>
            </a:r>
            <a:endParaRPr lang="tr-TR" noProof="0"/>
          </a:p>
          <a:p>
            <a:pPr lvl="4" rtl="0"/>
            <a:r>
              <a:rPr lang="tr-TR" noProof="0"/>
              <a:t>Beşinci düzey</a:t>
            </a:r>
            <a:endParaRPr lang="tr-TR" noProof="0"/>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18CCA95-4F40-4CDD-BF1E-B8C9EB86EE73}" type="slidenum">
              <a:rPr lang="tr-TR" noProof="0" smtClean="0"/>
            </a:fld>
            <a:endParaRPr lang="tr-TR" noProof="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918CCA95-4F40-4CDD-BF1E-B8C9EB86EE73}" type="slidenum">
              <a:rPr lang="tr-TR" smtClean="0"/>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endParaRPr lang="en-US" dirty="0"/>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fld>
            <a:endParaRPr lang="en-US"/>
          </a:p>
        </p:txBody>
      </p:sp>
      <p:cxnSp>
        <p:nvCxnSpPr>
          <p:cNvPr id="7" name="Straight Connector 6"/>
          <p:cNvCxnSpPr/>
          <p:nvPr/>
        </p:nvCxnSpPr>
        <p:spPr>
          <a:xfrm>
            <a:off x="565150" y="6087110"/>
            <a:ext cx="733583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39" name="Group 38"/>
          <p:cNvGrpSpPr/>
          <p:nvPr/>
        </p:nvGrpSpPr>
        <p:grpSpPr>
          <a:xfrm>
            <a:off x="6201388" y="0"/>
            <a:ext cx="5990612" cy="6858001"/>
            <a:chOff x="6201388" y="0"/>
            <a:chExt cx="5990612" cy="6858001"/>
          </a:xfrm>
        </p:grpSpPr>
        <p:sp>
          <p:nvSpPr>
            <p:cNvPr id="40" name="Oval 39"/>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41"/>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Oval 42"/>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46"/>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Oval 47"/>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52"/>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Oval 53"/>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59"/>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Freeform 60"/>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2" name="Freeform 61"/>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62"/>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endParaRPr lang="en-US" dirty="0"/>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Date Placeholder 6"/>
          <p:cNvSpPr>
            <a:spLocks noGrp="1"/>
          </p:cNvSpPr>
          <p:nvPr>
            <p:ph type="dt" sz="half" idx="10"/>
          </p:nvPr>
        </p:nvSpPr>
        <p:spPr/>
        <p:txBody>
          <a:bodyPr/>
          <a:lstStyle/>
          <a:p>
            <a:fld id="{A5B0A250-5CC0-1746-B209-08E8B0DAE6AF}"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A5B0A250-5CC0-1746-B209-08E8B0DAE6AF}"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endParaRPr lang="en-US" dirty="0"/>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5B0A250-5CC0-1746-B209-08E8B0DAE6AF}"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BCAEC-7D34-E549-A96E-FCEDAADBE4B0}"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7"/>
          <p:cNvSpPr>
            <a:spLocks noGrp="1" noRot="1" noChangeAspect="1" noMove="1" noResize="1" noEditPoints="1" noAdjustHandles="1" noChangeArrowheads="1" noChangeShapeType="1" noTextEdit="1"/>
          </p:cNvSpPr>
          <p:nvPr/>
        </p:nvSpPr>
        <p:spPr>
          <a:xfrm>
            <a:off x="0" y="0"/>
            <a:ext cx="124244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p:cNvSpPr>
            <a:spLocks noGrp="1"/>
          </p:cNvSpPr>
          <p:nvPr>
            <p:ph type="ctrTitle"/>
          </p:nvPr>
        </p:nvSpPr>
        <p:spPr>
          <a:xfrm>
            <a:off x="-464820" y="563245"/>
            <a:ext cx="9213215" cy="2400935"/>
          </a:xfrm>
        </p:spPr>
        <p:txBody>
          <a:bodyPr rtlCol="0">
            <a:normAutofit fontScale="90000"/>
          </a:bodyPr>
          <a:lstStyle/>
          <a:p>
            <a:pPr algn="ctr"/>
            <a:r>
              <a:rPr lang="en-US" altLang="en-US" dirty="0">
                <a:solidFill>
                  <a:srgbClr val="00B0F0"/>
                </a:solidFill>
                <a:latin typeface="Arial" panose="020B0604020202020204" pitchFamily="34" charset="0"/>
                <a:cs typeface="Arial" panose="020B0604020202020204" pitchFamily="34" charset="0"/>
              </a:rPr>
              <a:t>B</a:t>
            </a:r>
            <a:r>
              <a:rPr lang="en-US" altLang="en-US" dirty="0">
                <a:solidFill>
                  <a:srgbClr val="00B0F0"/>
                </a:solidFill>
                <a:latin typeface="Arial" panose="020B0604020202020204" pitchFamily="34" charset="0"/>
                <a:cs typeface="Arial" panose="020B0604020202020204" pitchFamily="34" charset="0"/>
              </a:rPr>
              <a:t>İ</a:t>
            </a:r>
            <a:r>
              <a:rPr lang="en-US" altLang="en-US" dirty="0">
                <a:solidFill>
                  <a:srgbClr val="00B0F0"/>
                </a:solidFill>
                <a:latin typeface="Arial" panose="020B0604020202020204" pitchFamily="34" charset="0"/>
                <a:cs typeface="Arial" panose="020B0604020202020204" pitchFamily="34" charset="0"/>
              </a:rPr>
              <a:t>OS MAK</a:t>
            </a:r>
            <a:r>
              <a:rPr lang="en-US" altLang="en-US" dirty="0">
                <a:solidFill>
                  <a:srgbClr val="00B0F0"/>
                </a:solidFill>
                <a:latin typeface="Arial" panose="020B0604020202020204" pitchFamily="34" charset="0"/>
                <a:cs typeface="Arial" panose="020B0604020202020204" pitchFamily="34" charset="0"/>
              </a:rPr>
              <a:t>İ</a:t>
            </a:r>
            <a:r>
              <a:rPr lang="en-US" altLang="en-US" dirty="0">
                <a:solidFill>
                  <a:srgbClr val="00B0F0"/>
                </a:solidFill>
                <a:latin typeface="Arial" panose="020B0604020202020204" pitchFamily="34" charset="0"/>
                <a:cs typeface="Arial" panose="020B0604020202020204" pitchFamily="34" charset="0"/>
              </a:rPr>
              <a:t>NA GRUBU</a:t>
            </a:r>
            <a:br>
              <a:rPr lang="en-US" altLang="en-US" dirty="0">
                <a:solidFill>
                  <a:srgbClr val="00B0F0"/>
                </a:solidFill>
                <a:latin typeface="Arial" panose="020B0604020202020204" pitchFamily="34" charset="0"/>
                <a:cs typeface="Arial" panose="020B0604020202020204" pitchFamily="34" charset="0"/>
              </a:rPr>
            </a:br>
            <a:br>
              <a:rPr lang="en-US" altLang="en-US" dirty="0">
                <a:solidFill>
                  <a:srgbClr val="00B0F0"/>
                </a:solidFill>
                <a:latin typeface="Arial" panose="020B0604020202020204" pitchFamily="34" charset="0"/>
                <a:cs typeface="Arial" panose="020B0604020202020204" pitchFamily="34" charset="0"/>
              </a:rPr>
            </a:br>
            <a:r>
              <a:rPr lang="en-US" altLang="en-US" dirty="0">
                <a:solidFill>
                  <a:srgbClr val="00B0F0"/>
                </a:solidFill>
                <a:latin typeface="Arial" panose="020B0604020202020204" pitchFamily="34" charset="0"/>
                <a:cs typeface="Arial" panose="020B0604020202020204" pitchFamily="34" charset="0"/>
              </a:rPr>
              <a:t>F</a:t>
            </a:r>
            <a:r>
              <a:rPr lang="en-US" altLang="en-US" dirty="0">
                <a:solidFill>
                  <a:srgbClr val="00B0F0"/>
                </a:solidFill>
                <a:latin typeface="Arial" panose="020B0604020202020204" pitchFamily="34" charset="0"/>
                <a:cs typeface="Arial" panose="020B0604020202020204" pitchFamily="34" charset="0"/>
              </a:rPr>
              <a:t>İ</a:t>
            </a:r>
            <a:r>
              <a:rPr lang="en-US" altLang="en-US" dirty="0">
                <a:solidFill>
                  <a:srgbClr val="00B0F0"/>
                </a:solidFill>
                <a:latin typeface="Arial" panose="020B0604020202020204" pitchFamily="34" charset="0"/>
                <a:cs typeface="Arial" panose="020B0604020202020204" pitchFamily="34" charset="0"/>
              </a:rPr>
              <a:t>NANSAL ANAL</a:t>
            </a:r>
            <a:r>
              <a:rPr lang="en-US" altLang="en-US" dirty="0">
                <a:solidFill>
                  <a:srgbClr val="00B0F0"/>
                </a:solidFill>
                <a:latin typeface="Arial" panose="020B0604020202020204" pitchFamily="34" charset="0"/>
                <a:cs typeface="Arial" panose="020B0604020202020204" pitchFamily="34" charset="0"/>
              </a:rPr>
              <a:t>İ</a:t>
            </a:r>
            <a:r>
              <a:rPr lang="en-US" altLang="en-US" dirty="0">
                <a:solidFill>
                  <a:srgbClr val="00B0F0"/>
                </a:solidFill>
                <a:latin typeface="Arial" panose="020B0604020202020204" pitchFamily="34" charset="0"/>
                <a:cs typeface="Arial" panose="020B0604020202020204" pitchFamily="34" charset="0"/>
              </a:rPr>
              <a:t>Z RAPORU</a:t>
            </a:r>
            <a:endParaRPr lang="en-US" altLang="en-US" dirty="0">
              <a:solidFill>
                <a:srgbClr val="00B0F0"/>
              </a:solidFill>
              <a:latin typeface="Arial" panose="020B0604020202020204" pitchFamily="34" charset="0"/>
              <a:cs typeface="Arial" panose="020B0604020202020204" pitchFamily="34" charset="0"/>
            </a:endParaRPr>
          </a:p>
        </p:txBody>
      </p:sp>
      <p:cxnSp>
        <p:nvCxnSpPr>
          <p:cNvPr id="51" name="Straight Connector 49"/>
          <p:cNvCxnSpPr>
            <a:cxnSpLocks noGrp="1" noRot="1" noChangeAspect="1" noMove="1" noResize="1" noEditPoints="1" noAdjustHandles="1" noChangeArrowheads="1" noChangeShapeType="1"/>
          </p:cNvCxnSpPr>
          <p:nvPr/>
        </p:nvCxnSpPr>
        <p:spPr>
          <a:xfrm flipH="1">
            <a:off x="585470" y="6087110"/>
            <a:ext cx="5016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7" name="Group 51"/>
          <p:cNvGrpSpPr>
            <a:grpSpLocks noGrp="1" noRot="1" noChangeAspect="1" noMove="1" noResize="1" noUngrp="1"/>
          </p:cNvGrpSpPr>
          <p:nvPr/>
        </p:nvGrpSpPr>
        <p:grpSpPr>
          <a:xfrm>
            <a:off x="6433163" y="0"/>
            <a:ext cx="5990612" cy="6858001"/>
            <a:chOff x="6201388" y="0"/>
            <a:chExt cx="5990612" cy="6858001"/>
          </a:xfrm>
        </p:grpSpPr>
        <p:sp>
          <p:nvSpPr>
            <p:cNvPr id="53" name="Oval 52"/>
            <p:cNvSpPr/>
            <p:nvPr userDrawn="1"/>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35"/>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36"/>
            <p:cNvSpPr/>
            <p:nvPr userDrawn="1"/>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Oval 55"/>
            <p:cNvSpPr/>
            <p:nvPr/>
          </p:nvSpPr>
          <p:spPr>
            <a:xfrm>
              <a:off x="7564253"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p:cNvSpPr/>
            <p:nvPr/>
          </p:nvSpPr>
          <p:spPr>
            <a:xfrm>
              <a:off x="7564253" y="217788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p:cNvSpPr/>
            <p:nvPr/>
          </p:nvSpPr>
          <p:spPr>
            <a:xfrm>
              <a:off x="7564253" y="80636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65"/>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0" name="Freeform 66"/>
            <p:cNvSpPr/>
            <p:nvPr userDrawn="1"/>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Oval 60"/>
            <p:cNvSpPr/>
            <p:nvPr/>
          </p:nvSpPr>
          <p:spPr>
            <a:xfrm>
              <a:off x="8927118" y="4920911"/>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8927118" y="3549396"/>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8927118" y="217788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8927118"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71"/>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72"/>
            <p:cNvSpPr/>
            <p:nvPr userDrawn="1"/>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10289984" y="4920911"/>
              <a:ext cx="1130725" cy="11307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10289984"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10289984" y="80636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76"/>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1" name="Freeform 77"/>
            <p:cNvSpPr/>
            <p:nvPr userDrawn="1"/>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8"/>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79"/>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4" name="Freeform 80"/>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5" name="Freeform 81"/>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6" name="Freeform 82"/>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Picture 3" descr="BİOS"/>
          <p:cNvPicPr>
            <a:picLocks noChangeAspect="1"/>
          </p:cNvPicPr>
          <p:nvPr/>
        </p:nvPicPr>
        <p:blipFill>
          <a:blip r:embed="rId1"/>
          <a:stretch>
            <a:fillRect/>
          </a:stretch>
        </p:blipFill>
        <p:spPr>
          <a:xfrm>
            <a:off x="1885315" y="4920615"/>
            <a:ext cx="3733800" cy="15011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custDataLst>
              <p:tags r:id="rId1"/>
            </p:custDataLst>
          </p:nvPr>
        </p:nvGraphicFramePr>
        <p:xfrm>
          <a:off x="373380" y="254635"/>
          <a:ext cx="10546080" cy="5850890"/>
        </p:xfrm>
        <a:graphic>
          <a:graphicData uri="http://schemas.openxmlformats.org/drawingml/2006/table">
            <a:tbl>
              <a:tblPr/>
              <a:tblGrid>
                <a:gridCol w="1961515"/>
                <a:gridCol w="457835"/>
                <a:gridCol w="2325370"/>
                <a:gridCol w="1377950"/>
                <a:gridCol w="1329055"/>
                <a:gridCol w="3094355"/>
              </a:tblGrid>
              <a:tr h="228600">
                <a:tc gridSpan="6">
                  <a:txBody>
                    <a:bodyPr/>
                    <a:p>
                      <a:pPr algn="ctr" fontAlgn="ctr">
                        <a:lnSpc>
                          <a:spcPct val="114000"/>
                        </a:lnSpc>
                        <a:spcBef>
                          <a:spcPct val="0"/>
                        </a:spcBef>
                        <a:spcAft>
                          <a:spcPct val="0"/>
                        </a:spcAft>
                      </a:pPr>
                      <a:r>
                        <a:rPr sz="1600" b="1" i="0">
                          <a:solidFill>
                            <a:srgbClr val="000000"/>
                          </a:solidFill>
                          <a:latin typeface="Calibri" panose="020F0502020204030204"/>
                          <a:ea typeface="SimSun" panose="02010600030101010101" pitchFamily="2" charset="-122"/>
                        </a:rPr>
                        <a:t>BİOS MAKİNA GRUBU ÖZET BİLGİLER</a:t>
                      </a:r>
                      <a:endParaRPr sz="16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solidFill>
                      <a:srgbClr val="FABF8F"/>
                    </a:solidFill>
                  </a:tcPr>
                </a:tc>
                <a:tc hMerge="1">
                  <a:tcPr>
                    <a:lnT>
                      <a:noFill/>
                    </a:lnT>
                    <a:lnB>
                      <a:noFill/>
                    </a:lnB>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45656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Firma Ünvanı</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a:lnSpc>
                          <a:spcPct val="114000"/>
                        </a:lnSpc>
                        <a:spcBef>
                          <a:spcPct val="0"/>
                        </a:spcBef>
                        <a:spcAft>
                          <a:spcPct val="0"/>
                        </a:spcAft>
                      </a:pPr>
                      <a:r>
                        <a:rPr sz="1200">
                          <a:solidFill>
                            <a:srgbClr val="333333"/>
                          </a:solidFill>
                          <a:latin typeface="Arial" panose="020B0604020202020204"/>
                          <a:ea typeface="SimSun" panose="02010600030101010101" pitchFamily="2" charset="-122"/>
                        </a:rPr>
                        <a:t> </a:t>
                      </a:r>
                      <a:endParaRPr sz="1200">
                        <a:solidFill>
                          <a:srgbClr val="333333"/>
                        </a:solidFill>
                        <a:latin typeface="Arial" panose="020B0604020202020204"/>
                        <a:ea typeface="SimSun" panose="02010600030101010101" pitchFamily="2" charset="-122"/>
                      </a:endParaRPr>
                    </a:p>
                    <a:p>
                      <a:pPr algn="just">
                        <a:lnSpc>
                          <a:spcPct val="114000"/>
                        </a:lnSpc>
                        <a:spcBef>
                          <a:spcPct val="0"/>
                        </a:spcBef>
                        <a:spcAft>
                          <a:spcPct val="0"/>
                        </a:spcAft>
                      </a:pPr>
                      <a:r>
                        <a:rPr sz="1200">
                          <a:solidFill>
                            <a:srgbClr val="333333"/>
                          </a:solidFill>
                          <a:latin typeface="Arial" panose="020B0604020202020204"/>
                          <a:ea typeface="SimSun" panose="02010600030101010101" pitchFamily="2" charset="-122"/>
                        </a:rPr>
                        <a:t>BİOS MAKİNA ENDÜSTRİYEL OTOMAS SAN. VE TİC. LTD. ŞTİ.</a:t>
                      </a:r>
                      <a:endParaRPr sz="1200" i="0">
                        <a:solidFill>
                          <a:srgbClr val="333333"/>
                        </a:solidFill>
                        <a:latin typeface="Arial" panose="020B0604020202020204"/>
                        <a:ea typeface="SimSun" panose="02010600030101010101" pitchFamily="2" charset="-122"/>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457200">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Faaliyet Alanı</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2">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Endüstriyel makine ve otomasyon hizmet işleri</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R>
                      <a:noFill/>
                    </a:lnR>
                    <a:lnT>
                      <a:noFill/>
                    </a:lnT>
                    <a:lnB>
                      <a:noFill/>
                    </a:lnB>
                  </a:tcPr>
                </a:tc>
                <a:tc>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Nace Kodu</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solidFill>
                      <a:srgbClr val="FCD5B4"/>
                    </a:solidFill>
                  </a:tcPr>
                </a:tc>
                <a:tc gridSpan="2">
                  <a:txBody>
                    <a:bodyPr/>
                    <a:p>
                      <a:pPr algn="just" fontAlgn="b">
                        <a:lnSpc>
                          <a:spcPct val="114000"/>
                        </a:lnSpc>
                        <a:spcBef>
                          <a:spcPct val="0"/>
                        </a:spcBef>
                        <a:spcAft>
                          <a:spcPct val="0"/>
                        </a:spcAft>
                      </a:pPr>
                      <a:r>
                        <a:rPr sz="1000" i="0">
                          <a:solidFill>
                            <a:srgbClr val="000000"/>
                          </a:solidFill>
                          <a:latin typeface="Calibri" panose="020F0502020204030204"/>
                          <a:ea typeface="SimSun" panose="02010600030101010101" pitchFamily="2" charset="-122"/>
                        </a:rPr>
                        <a:t>33.20</a:t>
                      </a:r>
                      <a:endParaRPr sz="10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R>
                      <a:noFill/>
                    </a:lnR>
                    <a:lnT>
                      <a:noFill/>
                    </a:lnT>
                    <a:lnB>
                      <a:noFill/>
                    </a:lnB>
                  </a:tcPr>
                </a:tc>
              </a:tr>
              <a:tr h="22796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Kuruluş Tarihi</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03.10.2017</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8600">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Adresi</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Yukarıkirazca Mah. Eskişehir Cad. No: 160/8 Arifiye - SAKARYA</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796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Sermayesi</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2">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5.300.000 TL (Grup)</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R>
                      <a:noFill/>
                    </a:lnR>
                    <a:lnT>
                      <a:noFill/>
                    </a:lnT>
                    <a:lnB>
                      <a:noFill/>
                    </a:lnB>
                  </a:tcPr>
                </a:tc>
                <a:tc>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Vergi Dairesi</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solidFill>
                      <a:srgbClr val="FCD5B4"/>
                    </a:solidFill>
                  </a:tcPr>
                </a:tc>
                <a:tc gridSpan="2">
                  <a:txBody>
                    <a:bodyPr/>
                    <a:p>
                      <a:pPr algn="l">
                        <a:lnSpc>
                          <a:spcPct val="114000"/>
                        </a:lnSpc>
                        <a:spcBef>
                          <a:spcPct val="0"/>
                        </a:spcBef>
                        <a:spcAft>
                          <a:spcPct val="0"/>
                        </a:spcAft>
                      </a:pPr>
                      <a:r>
                        <a:rPr sz="1000">
                          <a:solidFill>
                            <a:srgbClr val="000000"/>
                          </a:solidFill>
                          <a:latin typeface="Arial" panose="020B0604020202020204"/>
                          <a:ea typeface="SimSun" panose="02010600030101010101" pitchFamily="2" charset="-122"/>
                        </a:rPr>
                        <a:t>ALİ FUAT CEBESOY</a:t>
                      </a:r>
                      <a:endParaRPr sz="1000" i="0">
                        <a:solidFill>
                          <a:srgbClr val="000000"/>
                        </a:solidFill>
                        <a:latin typeface="Arial" panose="020B0604020202020204"/>
                        <a:ea typeface="SimSun" panose="02010600030101010101" pitchFamily="2" charset="-122"/>
                      </a:endParaRPr>
                    </a:p>
                  </a:txBody>
                  <a:tcPr marL="0" marR="0" marT="0" marB="0" anchor="ctr" anchorCtr="0">
                    <a:lnL>
                      <a:noFill/>
                    </a:lnL>
                    <a:lnR>
                      <a:noFill/>
                    </a:lnR>
                    <a:lnT>
                      <a:noFill/>
                    </a:lnT>
                    <a:lnB>
                      <a:noFill/>
                    </a:lnB>
                    <a:noFill/>
                  </a:tcPr>
                </a:tc>
                <a:tc hMerge="1">
                  <a:tcPr>
                    <a:lnR>
                      <a:noFill/>
                    </a:lnR>
                    <a:lnT>
                      <a:noFill/>
                    </a:lnT>
                    <a:lnB>
                      <a:noFill/>
                    </a:lnB>
                  </a:tcPr>
                </a:tc>
              </a:tr>
              <a:tr h="228600">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Ortaklık Yapısı</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Sinan Ceylan (%50) / İlyas Görgülü (%50)</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1968500">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Özet Bilgi</a:t>
                      </a:r>
                      <a:endParaRPr sz="12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solidFill>
                      <a:srgbClr val="FCD5B4"/>
                    </a:solidFill>
                  </a:tcPr>
                </a:tc>
                <a:tc gridSpan="5">
                  <a:txBody>
                    <a:bodyPr/>
                    <a:p>
                      <a:pPr>
                        <a:lnSpc>
                          <a:spcPct val="114000"/>
                        </a:lnSpc>
                        <a:spcBef>
                          <a:spcPct val="0"/>
                        </a:spcBef>
                        <a:spcAft>
                          <a:spcPct val="0"/>
                        </a:spcAft>
                      </a:pPr>
                      <a:r>
                        <a:rPr sz="1200">
                          <a:latin typeface="Calibri" panose="020F0502020204030204"/>
                          <a:ea typeface="Calibri" panose="020F0502020204030204"/>
                        </a:rPr>
                        <a:t>Şirket, 03.10.2017 tarihinde güncel ünvanı ve eşit paylı olarak 10.000 TL sermaye ile İlyas Görgülü, Adem Güney, ZM Elektromekanik Ltd Şti ortaklığında Kocaeli’nde tesis edilmiştir. 10.09.2018 tarihinde ZM Elektromekanik sahip olduğu payları diğer ortaklara eşit olarak devredip ortaklıktan ayrılmıştır. 04.08.2020 tarihinde şirket merkezi Sakarya’ya taşınmıştır.10.09.2021 tarihinde Sinan Ceylan ortaklığa dahil olmuştur ancak g.resmi ortaklık 2020 yılında başlamıştır.</a:t>
                      </a:r>
                      <a:endParaRPr sz="1200">
                        <a:latin typeface="Calibri" panose="020F0502020204030204"/>
                        <a:ea typeface="Calibri" panose="020F0502020204030204"/>
                      </a:endParaRPr>
                    </a:p>
                    <a:p>
                      <a:pPr>
                        <a:lnSpc>
                          <a:spcPct val="114000"/>
                        </a:lnSpc>
                        <a:spcBef>
                          <a:spcPct val="0"/>
                        </a:spcBef>
                        <a:spcAft>
                          <a:spcPct val="0"/>
                        </a:spcAft>
                      </a:pPr>
                      <a:r>
                        <a:rPr sz="1200">
                          <a:latin typeface="Calibri" panose="020F0502020204030204"/>
                          <a:ea typeface="Calibri" panose="020F0502020204030204"/>
                        </a:rPr>
                        <a:t>21.03.2023 tarihinde Erhan Görgülü hisselerini İlyas Görgülü’ye devretmiştir. 21.12.2023 tarihinde şirket sermayesi 100.000 TL’den 5 mio TL’ye yükseltilmiştir. 30.10.2024 tarihinde Teknokent şubesi açılmıştır.</a:t>
                      </a:r>
                      <a:endParaRPr sz="1200">
                        <a:latin typeface="Calibri" panose="020F0502020204030204"/>
                        <a:ea typeface="Calibri" panose="020F0502020204030204"/>
                      </a:endParaRPr>
                    </a:p>
                    <a:p>
                      <a:pPr>
                        <a:lnSpc>
                          <a:spcPct val="114000"/>
                        </a:lnSpc>
                        <a:spcBef>
                          <a:spcPct val="0"/>
                        </a:spcBef>
                        <a:spcAft>
                          <a:spcPct val="0"/>
                        </a:spcAft>
                      </a:pPr>
                      <a:r>
                        <a:rPr sz="1200">
                          <a:latin typeface="Calibri" panose="020F0502020204030204"/>
                          <a:ea typeface="Calibri" panose="020F0502020204030204"/>
                        </a:rPr>
                        <a:t>Bios Endüstri sermayesi 25.12.2024 tarihinde mevcut ortaklık yapısı korunarak 5 mio TL’den 20 mio TL’ye yükseltilmiştir. Sermayenin ödenmemiş kısmı nakden karşılanacaktır.</a:t>
                      </a:r>
                      <a:endParaRPr sz="12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796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Temsil ve İlzam</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İlyas Görgülü</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8600">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Rating Notu</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a:txBody>
                    <a:bodyPr/>
                    <a:p>
                      <a:pPr algn="just" fontAlgn="b">
                        <a:lnSpc>
                          <a:spcPct val="114000"/>
                        </a:lnSpc>
                        <a:spcBef>
                          <a:spcPct val="0"/>
                        </a:spcBef>
                        <a:spcAft>
                          <a:spcPct val="0"/>
                        </a:spcAft>
                      </a:pPr>
                      <a:r>
                        <a:rPr sz="1200" i="0">
                          <a:solidFill>
                            <a:srgbClr val="000000"/>
                          </a:solidFill>
                          <a:latin typeface="Calibri" panose="020F0502020204030204"/>
                          <a:ea typeface="Calibri" panose="020F0502020204030204"/>
                        </a:rPr>
                        <a:t> </a:t>
                      </a:r>
                      <a:endParaRPr sz="12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Harf Notu</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solidFill>
                      <a:srgbClr val="FCD5B4"/>
                    </a:solidFill>
                  </a:tcPr>
                </a:tc>
                <a:tc>
                  <a:txBody>
                    <a:bodyPr/>
                    <a:p>
                      <a:pPr algn="just" fontAlgn="b">
                        <a:lnSpc>
                          <a:spcPct val="114000"/>
                        </a:lnSpc>
                        <a:spcBef>
                          <a:spcPct val="0"/>
                        </a:spcBef>
                        <a:spcAft>
                          <a:spcPct val="0"/>
                        </a:spcAft>
                      </a:pPr>
                      <a:r>
                        <a:rPr sz="1200" i="0">
                          <a:solidFill>
                            <a:srgbClr val="000000"/>
                          </a:solidFill>
                          <a:latin typeface="Calibri" panose="020F0502020204030204"/>
                          <a:ea typeface="Calibri" panose="020F0502020204030204"/>
                        </a:rPr>
                        <a:t> </a:t>
                      </a:r>
                      <a:endParaRPr sz="12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just" fontAlgn="b">
                        <a:lnSpc>
                          <a:spcPct val="114000"/>
                        </a:lnSpc>
                        <a:spcBef>
                          <a:spcPct val="0"/>
                        </a:spcBef>
                        <a:spcAft>
                          <a:spcPct val="0"/>
                        </a:spcAft>
                      </a:pPr>
                      <a:r>
                        <a:rPr sz="1000" i="0">
                          <a:solidFill>
                            <a:srgbClr val="000000"/>
                          </a:solidFill>
                          <a:latin typeface="Calibri" panose="020F0502020204030204"/>
                          <a:ea typeface="SimSun" panose="02010600030101010101" pitchFamily="2" charset="-122"/>
                        </a:rPr>
                        <a:t>Önceki Notu</a:t>
                      </a:r>
                      <a:endParaRPr sz="10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solidFill>
                      <a:srgbClr val="FCD5B4"/>
                    </a:solidFill>
                  </a:tcPr>
                </a:tc>
                <a:tc>
                  <a:txBody>
                    <a:bodyPr/>
                    <a:p>
                      <a:pPr algn="just" fontAlgn="b">
                        <a:lnSpc>
                          <a:spcPct val="114000"/>
                        </a:lnSpc>
                        <a:spcBef>
                          <a:spcPct val="0"/>
                        </a:spcBef>
                        <a:spcAft>
                          <a:spcPct val="0"/>
                        </a:spcAft>
                      </a:pPr>
                      <a:r>
                        <a:rPr sz="1000" i="0">
                          <a:solidFill>
                            <a:srgbClr val="000000"/>
                          </a:solidFill>
                          <a:latin typeface="Calibri" panose="020F0502020204030204"/>
                          <a:ea typeface="Calibri" panose="020F0502020204030204"/>
                        </a:rPr>
                        <a:t> </a:t>
                      </a:r>
                      <a:endParaRPr sz="10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r>
              <a:tr h="22796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Grup Firması</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b="1" i="0">
                          <a:latin typeface="Calibri" panose="020F0502020204030204"/>
                          <a:ea typeface="Roboto Condensed" panose="02000000000000000000"/>
                        </a:rPr>
                        <a:t>TURNKEY MÜHENDİSLİK SANAYİ VE TİCARET LİMİTED ŞİRKETİ</a:t>
                      </a:r>
                      <a:endParaRPr sz="1200" b="1" i="0">
                        <a:solidFill>
                          <a:srgbClr val="000000"/>
                        </a:solidFill>
                        <a:latin typeface="Calibri" panose="020F0502020204030204"/>
                        <a:ea typeface="Roboto Condensed" panose="02000000000000000000"/>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923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Kuruluş Tarihi</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05.05.2023</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796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Sermayesi</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2">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200.000 TL</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R>
                      <a:noFill/>
                    </a:lnR>
                    <a:lnT>
                      <a:noFill/>
                    </a:lnT>
                    <a:lnB>
                      <a:noFill/>
                    </a:lnB>
                  </a:tcPr>
                </a:tc>
                <a:tc>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Ortaklık Yapısı</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solidFill>
                      <a:srgbClr val="FCD5B4"/>
                    </a:solidFill>
                  </a:tcPr>
                </a:tc>
                <a:tc gridSpan="2">
                  <a:txBody>
                    <a:bodyPr/>
                    <a:p>
                      <a:pPr algn="just" fontAlgn="b">
                        <a:lnSpc>
                          <a:spcPct val="114000"/>
                        </a:lnSpc>
                        <a:spcBef>
                          <a:spcPct val="0"/>
                        </a:spcBef>
                        <a:spcAft>
                          <a:spcPct val="0"/>
                        </a:spcAft>
                      </a:pPr>
                      <a:r>
                        <a:rPr sz="1000" i="0">
                          <a:solidFill>
                            <a:srgbClr val="000000"/>
                          </a:solidFill>
                          <a:latin typeface="Calibri" panose="020F0502020204030204"/>
                          <a:ea typeface="SimSun" panose="02010600030101010101" pitchFamily="2" charset="-122"/>
                        </a:rPr>
                        <a:t>Süleyman Semih Harbi (%50) / Fethullah Sayar (%50)</a:t>
                      </a:r>
                      <a:endParaRPr sz="10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R>
                      <a:noFill/>
                    </a:lnR>
                    <a:lnT>
                      <a:noFill/>
                    </a:lnT>
                    <a:lnB>
                      <a:noFill/>
                    </a:lnB>
                  </a:tcPr>
                </a:tc>
              </a:tr>
              <a:tr h="228600">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Ortaklık Yapısı</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b="1" i="0">
                          <a:latin typeface="Calibri" panose="020F0502020204030204"/>
                          <a:ea typeface="Roboto Condensed" panose="02000000000000000000"/>
                        </a:rPr>
                        <a:t>SVS ARGE TEKNOLOJİ SANAYİ TİCARET LİMİTED ŞİRKETİ</a:t>
                      </a:r>
                      <a:endParaRPr sz="1200" b="1" i="0">
                        <a:solidFill>
                          <a:srgbClr val="000000"/>
                        </a:solidFill>
                        <a:latin typeface="Calibri" panose="020F0502020204030204"/>
                        <a:ea typeface="Roboto Condensed" panose="02000000000000000000"/>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7965">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Kuruluş Tarihi</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endParaRPr sz="1200" i="0">
                        <a:solidFill>
                          <a:srgbClr val="000000"/>
                        </a:solidFill>
                        <a:latin typeface="Calibri" panose="020F0502020204030204"/>
                        <a:ea typeface="Calibri" panose="020F0502020204030204"/>
                      </a:endParaRPr>
                    </a:p>
                    <a:p>
                      <a:pPr algn="just" fontAlgn="b">
                        <a:lnSpc>
                          <a:spcPct val="114000"/>
                        </a:lnSpc>
                        <a:spcBef>
                          <a:spcPct val="0"/>
                        </a:spcBef>
                        <a:spcAft>
                          <a:spcPct val="0"/>
                        </a:spcAft>
                      </a:pPr>
                      <a:endParaRPr sz="12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r h="228600">
                <a:tc>
                  <a:txBody>
                    <a:bodyPr/>
                    <a:p>
                      <a:pPr algn="l" fontAlgn="b">
                        <a:lnSpc>
                          <a:spcPct val="114000"/>
                        </a:lnSpc>
                        <a:spcBef>
                          <a:spcPct val="0"/>
                        </a:spcBef>
                        <a:spcAft>
                          <a:spcPct val="0"/>
                        </a:spcAft>
                      </a:pPr>
                      <a:r>
                        <a:rPr sz="1200" b="1" i="0">
                          <a:solidFill>
                            <a:srgbClr val="000000"/>
                          </a:solidFill>
                          <a:latin typeface="Calibri" panose="020F0502020204030204"/>
                          <a:ea typeface="SimSun" panose="02010600030101010101" pitchFamily="2" charset="-122"/>
                        </a:rPr>
                        <a:t>Sermaye /Ortaklk Yapısı</a:t>
                      </a:r>
                      <a:endParaRPr sz="12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solidFill>
                      <a:srgbClr val="FCD5B4"/>
                    </a:solidFill>
                  </a:tcPr>
                </a:tc>
                <a:tc gridSpan="5">
                  <a:txBody>
                    <a:bodyPr/>
                    <a:p>
                      <a:pPr algn="just" fontAlgn="b">
                        <a:lnSpc>
                          <a:spcPct val="114000"/>
                        </a:lnSpc>
                        <a:spcBef>
                          <a:spcPct val="0"/>
                        </a:spcBef>
                        <a:spcAft>
                          <a:spcPct val="0"/>
                        </a:spcAft>
                      </a:pPr>
                      <a:r>
                        <a:rPr sz="1200" i="0">
                          <a:solidFill>
                            <a:srgbClr val="000000"/>
                          </a:solidFill>
                          <a:latin typeface="Calibri" panose="020F0502020204030204"/>
                          <a:ea typeface="SimSun" panose="02010600030101010101" pitchFamily="2" charset="-122"/>
                        </a:rPr>
                        <a:t>100.000 TL / Sinan Ceylan (%40) - Samet Keser (%40) - İlyas Görgülü (%20)</a:t>
                      </a:r>
                      <a:endParaRPr sz="12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hMerge="1">
                  <a:tcPr>
                    <a:lnT>
                      <a:noFill/>
                    </a:lnT>
                    <a:lnB>
                      <a:noFill/>
                    </a:lnB>
                  </a:tcPr>
                </a:tc>
                <a:tc hMerge="1">
                  <a:tcPr>
                    <a:lnT>
                      <a:noFill/>
                    </a:lnT>
                    <a:lnB>
                      <a:noFill/>
                    </a:lnB>
                  </a:tcPr>
                </a:tc>
                <a:tc hMerge="1">
                  <a:tcPr>
                    <a:lnT>
                      <a:noFill/>
                    </a:lnT>
                    <a:lnB>
                      <a:noFill/>
                    </a:lnB>
                  </a:tcPr>
                </a:tc>
                <a:tc hMerge="1">
                  <a:tcPr>
                    <a:lnR>
                      <a:noFill/>
                    </a:lnR>
                    <a:lnT>
                      <a:noFill/>
                    </a:lnT>
                    <a:lnB>
                      <a:no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2610" y="123825"/>
            <a:ext cx="9980295" cy="1268730"/>
          </a:xfrm>
        </p:spPr>
        <p:txBody>
          <a:bodyPr>
            <a:normAutofit/>
          </a:bodyPr>
          <a:p>
            <a:r>
              <a:rPr lang="en-US" altLang="en-US" sz="2665" u="sng">
                <a:solidFill>
                  <a:srgbClr val="00B0F0"/>
                </a:solidFill>
                <a:latin typeface="Arial" panose="020B0604020202020204" pitchFamily="34" charset="0"/>
                <a:cs typeface="Arial" panose="020B0604020202020204" pitchFamily="34" charset="0"/>
              </a:rPr>
              <a:t>B</a:t>
            </a:r>
            <a:r>
              <a:rPr lang="en-US" altLang="en-US" sz="2665" u="sng">
                <a:solidFill>
                  <a:srgbClr val="00B0F0"/>
                </a:solidFill>
                <a:latin typeface="Arial" panose="020B0604020202020204" pitchFamily="34" charset="0"/>
                <a:cs typeface="Arial" panose="020B0604020202020204" pitchFamily="34" charset="0"/>
              </a:rPr>
              <a:t>İ</a:t>
            </a:r>
            <a:r>
              <a:rPr lang="en-US" altLang="en-US" sz="2665" u="sng">
                <a:solidFill>
                  <a:srgbClr val="00B0F0"/>
                </a:solidFill>
                <a:latin typeface="Arial" panose="020B0604020202020204" pitchFamily="34" charset="0"/>
                <a:cs typeface="Arial" panose="020B0604020202020204" pitchFamily="34" charset="0"/>
              </a:rPr>
              <a:t>OS MAK</a:t>
            </a:r>
            <a:r>
              <a:rPr lang="en-US" altLang="en-US" sz="2665" u="sng">
                <a:solidFill>
                  <a:srgbClr val="00B0F0"/>
                </a:solidFill>
                <a:latin typeface="Arial" panose="020B0604020202020204" pitchFamily="34" charset="0"/>
                <a:cs typeface="Arial" panose="020B0604020202020204" pitchFamily="34" charset="0"/>
              </a:rPr>
              <a:t>İ</a:t>
            </a:r>
            <a:r>
              <a:rPr lang="en-US" altLang="en-US" sz="2665" u="sng">
                <a:solidFill>
                  <a:srgbClr val="00B0F0"/>
                </a:solidFill>
                <a:latin typeface="Arial" panose="020B0604020202020204" pitchFamily="34" charset="0"/>
                <a:cs typeface="Arial" panose="020B0604020202020204" pitchFamily="34" charset="0"/>
              </a:rPr>
              <a:t>NA GEL</a:t>
            </a:r>
            <a:r>
              <a:rPr lang="en-US" altLang="en-US" sz="2665" u="sng">
                <a:solidFill>
                  <a:srgbClr val="00B0F0"/>
                </a:solidFill>
                <a:latin typeface="Arial" panose="020B0604020202020204" pitchFamily="34" charset="0"/>
                <a:cs typeface="Arial" panose="020B0604020202020204" pitchFamily="34" charset="0"/>
              </a:rPr>
              <a:t>İ</a:t>
            </a:r>
            <a:r>
              <a:rPr lang="en-US" altLang="en-US" sz="2665" u="sng">
                <a:solidFill>
                  <a:srgbClr val="00B0F0"/>
                </a:solidFill>
                <a:latin typeface="Arial" panose="020B0604020202020204" pitchFamily="34" charset="0"/>
                <a:cs typeface="Arial" panose="020B0604020202020204" pitchFamily="34" charset="0"/>
              </a:rPr>
              <a:t>R TABLOSU VE B</a:t>
            </a:r>
            <a:r>
              <a:rPr lang="en-US" altLang="en-US" sz="2665" u="sng">
                <a:solidFill>
                  <a:srgbClr val="00B0F0"/>
                </a:solidFill>
                <a:latin typeface="Arial" panose="020B0604020202020204" pitchFamily="34" charset="0"/>
                <a:cs typeface="Arial" panose="020B0604020202020204" pitchFamily="34" charset="0"/>
              </a:rPr>
              <a:t>İ</a:t>
            </a:r>
            <a:r>
              <a:rPr lang="en-US" altLang="en-US" sz="2665" u="sng">
                <a:solidFill>
                  <a:srgbClr val="00B0F0"/>
                </a:solidFill>
                <a:latin typeface="Arial" panose="020B0604020202020204" pitchFamily="34" charset="0"/>
                <a:cs typeface="Arial" panose="020B0604020202020204" pitchFamily="34" charset="0"/>
              </a:rPr>
              <a:t>LAN</a:t>
            </a:r>
            <a:r>
              <a:rPr lang="en-US" altLang="en-US" sz="2665" u="sng">
                <a:solidFill>
                  <a:srgbClr val="00B0F0"/>
                </a:solidFill>
                <a:latin typeface="Arial" panose="020B0604020202020204" pitchFamily="34" charset="0"/>
                <a:cs typeface="Arial" panose="020B0604020202020204" pitchFamily="34" charset="0"/>
              </a:rPr>
              <a:t>Ç</a:t>
            </a:r>
            <a:r>
              <a:rPr lang="en-US" altLang="en-US" sz="2665" u="sng">
                <a:solidFill>
                  <a:srgbClr val="00B0F0"/>
                </a:solidFill>
                <a:latin typeface="Arial" panose="020B0604020202020204" pitchFamily="34" charset="0"/>
                <a:cs typeface="Arial" panose="020B0604020202020204" pitchFamily="34" charset="0"/>
              </a:rPr>
              <a:t>O ANAL</a:t>
            </a:r>
            <a:r>
              <a:rPr lang="en-US" altLang="en-US" sz="2665" u="sng">
                <a:solidFill>
                  <a:srgbClr val="00B0F0"/>
                </a:solidFill>
                <a:latin typeface="Arial" panose="020B0604020202020204" pitchFamily="34" charset="0"/>
                <a:cs typeface="Arial" panose="020B0604020202020204" pitchFamily="34" charset="0"/>
              </a:rPr>
              <a:t>İ</a:t>
            </a:r>
            <a:r>
              <a:rPr lang="en-US" altLang="en-US" sz="2665" u="sng">
                <a:solidFill>
                  <a:srgbClr val="00B0F0"/>
                </a:solidFill>
                <a:latin typeface="Arial" panose="020B0604020202020204" pitchFamily="34" charset="0"/>
                <a:cs typeface="Arial" panose="020B0604020202020204" pitchFamily="34" charset="0"/>
              </a:rPr>
              <a:t>Z</a:t>
            </a:r>
            <a:r>
              <a:rPr lang="en-US" altLang="en-US" sz="2665" u="sng">
                <a:solidFill>
                  <a:srgbClr val="00B0F0"/>
                </a:solidFill>
                <a:latin typeface="Arial" panose="020B0604020202020204" pitchFamily="34" charset="0"/>
                <a:cs typeface="Arial" panose="020B0604020202020204" pitchFamily="34" charset="0"/>
              </a:rPr>
              <a:t>İ</a:t>
            </a:r>
            <a:endParaRPr lang="en-US" altLang="en-US" sz="2665" u="sng">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sz="half" idx="1"/>
          </p:nvPr>
        </p:nvSpPr>
        <p:spPr/>
        <p:txBody>
          <a:bodyPr>
            <a:normAutofit/>
          </a:bodyPr>
          <a:p>
            <a:pPr marL="0" indent="0">
              <a:buNone/>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pic>
        <p:nvPicPr>
          <p:cNvPr id="4" name="Picture 4" descr="GT"/>
          <p:cNvPicPr>
            <a:picLocks noChangeAspect="1"/>
          </p:cNvPicPr>
          <p:nvPr>
            <p:ph sz="half" idx="2"/>
          </p:nvPr>
        </p:nvPicPr>
        <p:blipFill>
          <a:blip r:embed="rId1"/>
          <a:stretch>
            <a:fillRect/>
          </a:stretch>
        </p:blipFill>
        <p:spPr>
          <a:xfrm>
            <a:off x="565150" y="963930"/>
            <a:ext cx="10344785" cy="40627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342265"/>
            <a:ext cx="7335520" cy="868045"/>
          </a:xfrm>
        </p:spPr>
        <p:txBody>
          <a:bodyPr/>
          <a:p>
            <a:r>
              <a:rPr lang="en-US" altLang="en-US" u="sng">
                <a:solidFill>
                  <a:srgbClr val="00B0F0"/>
                </a:solidFill>
                <a:latin typeface="Arial" panose="020B0604020202020204" pitchFamily="34" charset="0"/>
                <a:cs typeface="Arial" panose="020B0604020202020204" pitchFamily="34" charset="0"/>
              </a:rPr>
              <a:t>GEL</a:t>
            </a:r>
            <a:r>
              <a:rPr lang="en-US" altLang="en-US" u="sng">
                <a:solidFill>
                  <a:srgbClr val="00B0F0"/>
                </a:solidFill>
                <a:latin typeface="Arial" panose="020B0604020202020204" pitchFamily="34" charset="0"/>
                <a:cs typeface="Arial" panose="020B0604020202020204" pitchFamily="34" charset="0"/>
              </a:rPr>
              <a:t>İ</a:t>
            </a:r>
            <a:r>
              <a:rPr lang="en-US" altLang="en-US" u="sng">
                <a:solidFill>
                  <a:srgbClr val="00B0F0"/>
                </a:solidFill>
                <a:latin typeface="Arial" panose="020B0604020202020204" pitchFamily="34" charset="0"/>
                <a:cs typeface="Arial" panose="020B0604020202020204" pitchFamily="34" charset="0"/>
              </a:rPr>
              <a:t>R TABLOSU B</a:t>
            </a:r>
            <a:r>
              <a:rPr lang="en-US" altLang="en-US" u="sng">
                <a:solidFill>
                  <a:srgbClr val="00B0F0"/>
                </a:solidFill>
                <a:latin typeface="Arial" panose="020B0604020202020204" pitchFamily="34" charset="0"/>
                <a:cs typeface="Arial" panose="020B0604020202020204" pitchFamily="34" charset="0"/>
              </a:rPr>
              <a:t>İ</a:t>
            </a:r>
            <a:r>
              <a:rPr lang="en-US" altLang="en-US" u="sng">
                <a:solidFill>
                  <a:srgbClr val="00B0F0"/>
                </a:solidFill>
                <a:latin typeface="Arial" panose="020B0604020202020204" pitchFamily="34" charset="0"/>
                <a:cs typeface="Arial" panose="020B0604020202020204" pitchFamily="34" charset="0"/>
              </a:rPr>
              <a:t>LG</a:t>
            </a:r>
            <a:r>
              <a:rPr lang="en-US" altLang="en-US" u="sng">
                <a:solidFill>
                  <a:srgbClr val="00B0F0"/>
                </a:solidFill>
                <a:latin typeface="Arial" panose="020B0604020202020204" pitchFamily="34" charset="0"/>
                <a:cs typeface="Arial" panose="020B0604020202020204" pitchFamily="34" charset="0"/>
              </a:rPr>
              <a:t>İ</a:t>
            </a:r>
            <a:r>
              <a:rPr lang="en-US" altLang="en-US" u="sng">
                <a:solidFill>
                  <a:srgbClr val="00B0F0"/>
                </a:solidFill>
                <a:latin typeface="Arial" panose="020B0604020202020204" pitchFamily="34" charset="0"/>
                <a:cs typeface="Arial" panose="020B0604020202020204" pitchFamily="34" charset="0"/>
              </a:rPr>
              <a:t>LER</a:t>
            </a:r>
            <a:r>
              <a:rPr lang="en-US" altLang="en-US" u="sng">
                <a:solidFill>
                  <a:srgbClr val="00B0F0"/>
                </a:solidFill>
                <a:latin typeface="Arial" panose="020B0604020202020204" pitchFamily="34" charset="0"/>
                <a:cs typeface="Arial" panose="020B0604020202020204" pitchFamily="34" charset="0"/>
              </a:rPr>
              <a:t>İ</a:t>
            </a:r>
            <a:r>
              <a:rPr lang="en-US" altLang="en-US" u="sng">
                <a:solidFill>
                  <a:srgbClr val="00B0F0"/>
                </a:solidFill>
                <a:latin typeface="Arial" panose="020B0604020202020204" pitchFamily="34" charset="0"/>
                <a:cs typeface="Arial" panose="020B0604020202020204" pitchFamily="34" charset="0"/>
              </a:rPr>
              <a:t>;</a:t>
            </a:r>
            <a:endParaRPr lang="en-US" altLang="en-US" u="sng">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283970"/>
            <a:ext cx="8630285" cy="4805045"/>
          </a:xfrm>
        </p:spPr>
        <p:txBody>
          <a:bodyPr>
            <a:noAutofit/>
          </a:bodyPr>
          <a:p>
            <a:r>
              <a:rPr lang="en-US" altLang="en-US" sz="1700">
                <a:latin typeface="Arial" panose="020B0604020202020204" pitchFamily="34" charset="0"/>
                <a:cs typeface="Arial" panose="020B0604020202020204" pitchFamily="34" charset="0"/>
              </a:rPr>
              <a:t>2024 y</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lsonu verileri henüz kesinle</a:t>
            </a:r>
            <a:r>
              <a:rPr lang="en-US" altLang="en-US" sz="1700">
                <a:latin typeface="Arial" panose="020B0604020202020204" pitchFamily="34" charset="0"/>
                <a:cs typeface="Arial" panose="020B0604020202020204" pitchFamily="34" charset="0"/>
              </a:rPr>
              <a:t>ş</a:t>
            </a:r>
            <a:r>
              <a:rPr lang="en-US" altLang="en-US" sz="1700">
                <a:latin typeface="Arial" panose="020B0604020202020204" pitchFamily="34" charset="0"/>
                <a:cs typeface="Arial" panose="020B0604020202020204" pitchFamily="34" charset="0"/>
              </a:rPr>
              <a:t>memi</a:t>
            </a:r>
            <a:r>
              <a:rPr lang="en-US" altLang="en-US" sz="1700">
                <a:latin typeface="Arial" panose="020B0604020202020204" pitchFamily="34" charset="0"/>
                <a:cs typeface="Arial" panose="020B0604020202020204" pitchFamily="34" charset="0"/>
              </a:rPr>
              <a:t>ş</a:t>
            </a:r>
            <a:r>
              <a:rPr lang="en-US" altLang="en-US" sz="1700">
                <a:latin typeface="Arial" panose="020B0604020202020204" pitchFamily="34" charset="0"/>
                <a:cs typeface="Arial" panose="020B0604020202020204" pitchFamily="34" charset="0"/>
              </a:rPr>
              <a:t> olmas</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 sebebiyle 2024-09 dönemi verileri ile de</a:t>
            </a:r>
            <a:r>
              <a:rPr lang="en-US" altLang="en-US" sz="1700">
                <a:latin typeface="Arial" panose="020B0604020202020204" pitchFamily="34" charset="0"/>
                <a:cs typeface="Arial" panose="020B0604020202020204" pitchFamily="34" charset="0"/>
              </a:rPr>
              <a:t>ğ</a:t>
            </a:r>
            <a:r>
              <a:rPr lang="en-US" altLang="en-US" sz="1700">
                <a:latin typeface="Arial" panose="020B0604020202020204" pitchFamily="34" charset="0"/>
                <a:cs typeface="Arial" panose="020B0604020202020204" pitchFamily="34" charset="0"/>
              </a:rPr>
              <a:t>erlendirme yap</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lm</a:t>
            </a:r>
            <a:r>
              <a:rPr lang="en-US" altLang="en-US" sz="1700">
                <a:latin typeface="Arial" panose="020B0604020202020204" pitchFamily="34" charset="0"/>
                <a:cs typeface="Arial" panose="020B0604020202020204" pitchFamily="34" charset="0"/>
              </a:rPr>
              <a:t>ış</a:t>
            </a:r>
            <a:r>
              <a:rPr lang="en-US" altLang="en-US" sz="1700">
                <a:latin typeface="Arial" panose="020B0604020202020204" pitchFamily="34" charset="0"/>
                <a:cs typeface="Arial" panose="020B0604020202020204" pitchFamily="34" charset="0"/>
              </a:rPr>
              <a:t> olup verilerin kesinle</a:t>
            </a:r>
            <a:r>
              <a:rPr lang="en-US" altLang="en-US" sz="1700">
                <a:latin typeface="Arial" panose="020B0604020202020204" pitchFamily="34" charset="0"/>
                <a:cs typeface="Arial" panose="020B0604020202020204" pitchFamily="34" charset="0"/>
              </a:rPr>
              <a:t>ş</a:t>
            </a:r>
            <a:r>
              <a:rPr lang="en-US" altLang="en-US" sz="1700">
                <a:latin typeface="Arial" panose="020B0604020202020204" pitchFamily="34" charset="0"/>
                <a:cs typeface="Arial" panose="020B0604020202020204" pitchFamily="34" charset="0"/>
              </a:rPr>
              <a:t>mesi akabinde yeni de</a:t>
            </a:r>
            <a:r>
              <a:rPr lang="en-US" altLang="en-US" sz="1700">
                <a:latin typeface="Arial" panose="020B0604020202020204" pitchFamily="34" charset="0"/>
                <a:cs typeface="Arial" panose="020B0604020202020204" pitchFamily="34" charset="0"/>
              </a:rPr>
              <a:t>ğ</a:t>
            </a:r>
            <a:r>
              <a:rPr lang="en-US" altLang="en-US" sz="1700">
                <a:latin typeface="Arial" panose="020B0604020202020204" pitchFamily="34" charset="0"/>
                <a:cs typeface="Arial" panose="020B0604020202020204" pitchFamily="34" charset="0"/>
              </a:rPr>
              <a:t>erlendirme ve analiz yap</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lacakt</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r.</a:t>
            </a:r>
            <a:endParaRPr lang="en-US" altLang="en-US" sz="1700">
              <a:latin typeface="Arial" panose="020B0604020202020204" pitchFamily="34" charset="0"/>
              <a:cs typeface="Arial" panose="020B0604020202020204" pitchFamily="34" charset="0"/>
            </a:endParaRPr>
          </a:p>
          <a:p>
            <a:endParaRPr lang="en-US" altLang="en-US" sz="1700">
              <a:latin typeface="Arial" panose="020B0604020202020204" pitchFamily="34" charset="0"/>
              <a:cs typeface="Arial" panose="020B0604020202020204" pitchFamily="34" charset="0"/>
            </a:endParaRPr>
          </a:p>
          <a:p>
            <a:r>
              <a:rPr lang="en-US" altLang="en-US" sz="1700">
                <a:latin typeface="Arial" panose="020B0604020202020204" pitchFamily="34" charset="0"/>
                <a:cs typeface="Arial" panose="020B0604020202020204" pitchFamily="34" charset="0"/>
              </a:rPr>
              <a:t>2024 y</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lsonu tahmini ciro bilgileri;</a:t>
            </a:r>
            <a:endParaRPr lang="en-US" altLang="en-US" sz="1700">
              <a:latin typeface="Arial" panose="020B0604020202020204" pitchFamily="34" charset="0"/>
              <a:cs typeface="Arial" panose="020B0604020202020204" pitchFamily="34" charset="0"/>
            </a:endParaRPr>
          </a:p>
          <a:p>
            <a:r>
              <a:rPr lang="en-US" altLang="en-US" sz="1700">
                <a:latin typeface="Arial" panose="020B0604020202020204" pitchFamily="34" charset="0"/>
                <a:cs typeface="Arial" panose="020B0604020202020204" pitchFamily="34" charset="0"/>
              </a:rPr>
              <a:t>*B</a:t>
            </a:r>
            <a:r>
              <a:rPr lang="en-US" altLang="en-US" sz="1700">
                <a:latin typeface="Arial" panose="020B0604020202020204" pitchFamily="34" charset="0"/>
                <a:cs typeface="Arial" panose="020B0604020202020204" pitchFamily="34" charset="0"/>
              </a:rPr>
              <a:t>İ</a:t>
            </a:r>
            <a:r>
              <a:rPr lang="en-US" altLang="en-US" sz="1700">
                <a:latin typeface="Arial" panose="020B0604020202020204" pitchFamily="34" charset="0"/>
                <a:cs typeface="Arial" panose="020B0604020202020204" pitchFamily="34" charset="0"/>
              </a:rPr>
              <a:t>OS MAK: 102 Mio TL</a:t>
            </a:r>
            <a:endParaRPr lang="en-US" altLang="en-US" sz="1700">
              <a:latin typeface="Arial" panose="020B0604020202020204" pitchFamily="34" charset="0"/>
              <a:cs typeface="Arial" panose="020B0604020202020204" pitchFamily="34" charset="0"/>
            </a:endParaRPr>
          </a:p>
          <a:p>
            <a:r>
              <a:rPr lang="en-US" altLang="en-US" sz="1700">
                <a:latin typeface="Arial" panose="020B0604020202020204" pitchFamily="34" charset="0"/>
                <a:cs typeface="Arial" panose="020B0604020202020204" pitchFamily="34" charset="0"/>
              </a:rPr>
              <a:t>*TURNKEY: 48 Mio TL </a:t>
            </a:r>
            <a:endParaRPr lang="en-US" altLang="en-US" sz="1700">
              <a:latin typeface="Arial" panose="020B0604020202020204" pitchFamily="34" charset="0"/>
              <a:cs typeface="Arial" panose="020B0604020202020204" pitchFamily="34" charset="0"/>
            </a:endParaRPr>
          </a:p>
          <a:p>
            <a:r>
              <a:rPr lang="en-US" altLang="en-US" sz="1700">
                <a:latin typeface="Arial" panose="020B0604020202020204" pitchFamily="34" charset="0"/>
                <a:cs typeface="Arial" panose="020B0604020202020204" pitchFamily="34" charset="0"/>
              </a:rPr>
              <a:t>*SVS ARGE: 19 Mio TL</a:t>
            </a:r>
            <a:endParaRPr lang="en-US" altLang="en-US" sz="1700">
              <a:latin typeface="Arial" panose="020B0604020202020204" pitchFamily="34" charset="0"/>
              <a:cs typeface="Arial" panose="020B0604020202020204" pitchFamily="34" charset="0"/>
            </a:endParaRPr>
          </a:p>
          <a:p>
            <a:r>
              <a:rPr lang="en-US" altLang="en-US" sz="1700">
                <a:latin typeface="Arial" panose="020B0604020202020204" pitchFamily="34" charset="0"/>
                <a:cs typeface="Arial" panose="020B0604020202020204" pitchFamily="34" charset="0"/>
              </a:rPr>
              <a:t>*GRUP TOPLAMI: 169 Mio TL olacakt</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r. </a:t>
            </a:r>
            <a:endParaRPr lang="en-US" altLang="en-US" sz="1700">
              <a:latin typeface="Arial" panose="020B0604020202020204" pitchFamily="34" charset="0"/>
              <a:cs typeface="Arial" panose="020B0604020202020204" pitchFamily="34" charset="0"/>
            </a:endParaRPr>
          </a:p>
          <a:p>
            <a:endParaRPr lang="en-US" altLang="en-US" sz="1700">
              <a:latin typeface="Arial" panose="020B0604020202020204" pitchFamily="34" charset="0"/>
              <a:cs typeface="Arial" panose="020B0604020202020204" pitchFamily="34" charset="0"/>
            </a:endParaRPr>
          </a:p>
          <a:p>
            <a:r>
              <a:rPr lang="en-US" altLang="en-US" sz="1700">
                <a:latin typeface="Arial" panose="020B0604020202020204" pitchFamily="34" charset="0"/>
                <a:cs typeface="Arial" panose="020B0604020202020204" pitchFamily="34" charset="0"/>
              </a:rPr>
              <a:t> 2024 y</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l sonu verilerinde dönem kar</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 bayan edilecektir. </a:t>
            </a:r>
            <a:endParaRPr lang="en-US" altLang="en-US" sz="1700">
              <a:latin typeface="Arial" panose="020B0604020202020204" pitchFamily="34" charset="0"/>
              <a:cs typeface="Arial" panose="020B0604020202020204" pitchFamily="34" charset="0"/>
            </a:endParaRPr>
          </a:p>
          <a:p>
            <a:endParaRPr lang="en-US" altLang="en-US" sz="1700">
              <a:latin typeface="Arial" panose="020B0604020202020204" pitchFamily="34" charset="0"/>
              <a:cs typeface="Arial" panose="020B0604020202020204" pitchFamily="34" charset="0"/>
            </a:endParaRPr>
          </a:p>
          <a:p>
            <a:r>
              <a:rPr lang="en-US" altLang="en-US" sz="1700">
                <a:latin typeface="Arial" panose="020B0604020202020204" pitchFamily="34" charset="0"/>
                <a:cs typeface="Arial" panose="020B0604020202020204" pitchFamily="34" charset="0"/>
              </a:rPr>
              <a:t>Sermayelerin ödenmemi</a:t>
            </a:r>
            <a:r>
              <a:rPr lang="en-US" altLang="en-US" sz="1700">
                <a:latin typeface="Arial" panose="020B0604020202020204" pitchFamily="34" charset="0"/>
                <a:cs typeface="Arial" panose="020B0604020202020204" pitchFamily="34" charset="0"/>
              </a:rPr>
              <a:t>ş</a:t>
            </a:r>
            <a:r>
              <a:rPr lang="en-US" altLang="en-US" sz="1700">
                <a:latin typeface="Arial" panose="020B0604020202020204" pitchFamily="34" charset="0"/>
                <a:cs typeface="Arial" panose="020B0604020202020204" pitchFamily="34" charset="0"/>
              </a:rPr>
              <a:t> k</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s</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mlar</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 kapat</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larak ödenmi</a:t>
            </a:r>
            <a:r>
              <a:rPr lang="en-US" altLang="en-US" sz="1700">
                <a:latin typeface="Arial" panose="020B0604020202020204" pitchFamily="34" charset="0"/>
                <a:cs typeface="Arial" panose="020B0604020202020204" pitchFamily="34" charset="0"/>
              </a:rPr>
              <a:t>ş</a:t>
            </a:r>
            <a:r>
              <a:rPr lang="en-US" altLang="en-US" sz="1700">
                <a:latin typeface="Arial" panose="020B0604020202020204" pitchFamily="34" charset="0"/>
                <a:cs typeface="Arial" panose="020B0604020202020204" pitchFamily="34" charset="0"/>
              </a:rPr>
              <a:t> olacakt</a:t>
            </a:r>
            <a:r>
              <a:rPr lang="en-US" altLang="en-US" sz="1700">
                <a:latin typeface="Arial" panose="020B0604020202020204" pitchFamily="34" charset="0"/>
                <a:cs typeface="Arial" panose="020B0604020202020204" pitchFamily="34" charset="0"/>
              </a:rPr>
              <a:t>ı</a:t>
            </a:r>
            <a:r>
              <a:rPr lang="en-US" altLang="en-US" sz="1700">
                <a:latin typeface="Arial" panose="020B0604020202020204" pitchFamily="34" charset="0"/>
                <a:cs typeface="Arial" panose="020B0604020202020204" pitchFamily="34" charset="0"/>
              </a:rPr>
              <a:t>r </a:t>
            </a:r>
            <a:endParaRPr lang="en-US" altLang="en-US" sz="170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p:txBody>
          <a:bodyPr>
            <a:normAutofit/>
          </a:bodyPr>
          <a:p>
            <a:pPr marL="0" indent="0">
              <a:buNone/>
            </a:pPr>
            <a:endParaRPr lang="en-US">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p:txBody>
      </p:sp>
      <p:pic>
        <p:nvPicPr>
          <p:cNvPr id="8" name="Picture 8" descr="BB1"/>
          <p:cNvPicPr>
            <a:picLocks noChangeAspect="1"/>
          </p:cNvPicPr>
          <p:nvPr>
            <p:ph sz="half" idx="2"/>
          </p:nvPr>
        </p:nvPicPr>
        <p:blipFill>
          <a:blip r:embed="rId1"/>
          <a:stretch>
            <a:fillRect/>
          </a:stretch>
        </p:blipFill>
        <p:spPr>
          <a:xfrm>
            <a:off x="652780" y="363855"/>
            <a:ext cx="9425940" cy="2739390"/>
          </a:xfrm>
          <a:prstGeom prst="rect">
            <a:avLst/>
          </a:prstGeom>
        </p:spPr>
      </p:pic>
      <p:pic>
        <p:nvPicPr>
          <p:cNvPr id="9" name="Picture 9" descr="BB2"/>
          <p:cNvPicPr>
            <a:picLocks noChangeAspect="1"/>
          </p:cNvPicPr>
          <p:nvPr/>
        </p:nvPicPr>
        <p:blipFill>
          <a:blip r:embed="rId2"/>
          <a:stretch>
            <a:fillRect/>
          </a:stretch>
        </p:blipFill>
        <p:spPr>
          <a:xfrm>
            <a:off x="653098" y="3103245"/>
            <a:ext cx="9425305" cy="35864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a:bodyPr>
          <a:p>
            <a:r>
              <a:rPr lang="en-US" altLang="en-US" sz="3110" u="sng">
                <a:solidFill>
                  <a:srgbClr val="00B0F0"/>
                </a:solidFill>
                <a:latin typeface="Arial" panose="020B0604020202020204" pitchFamily="34" charset="0"/>
                <a:cs typeface="Arial" panose="020B0604020202020204" pitchFamily="34" charset="0"/>
              </a:rPr>
              <a:t>B</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LAN</a:t>
            </a:r>
            <a:r>
              <a:rPr lang="en-US" altLang="en-US" sz="3110" u="sng">
                <a:solidFill>
                  <a:srgbClr val="00B0F0"/>
                </a:solidFill>
                <a:latin typeface="Arial" panose="020B0604020202020204" pitchFamily="34" charset="0"/>
                <a:cs typeface="Arial" panose="020B0604020202020204" pitchFamily="34" charset="0"/>
              </a:rPr>
              <a:t>Ç</a:t>
            </a:r>
            <a:r>
              <a:rPr lang="en-US" altLang="en-US" sz="3110" u="sng">
                <a:solidFill>
                  <a:srgbClr val="00B0F0"/>
                </a:solidFill>
                <a:latin typeface="Arial" panose="020B0604020202020204" pitchFamily="34" charset="0"/>
                <a:cs typeface="Arial" panose="020B0604020202020204" pitchFamily="34" charset="0"/>
              </a:rPr>
              <a:t>OYA </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L</a:t>
            </a:r>
            <a:r>
              <a:rPr lang="en-US" altLang="en-US" sz="3110" u="sng">
                <a:solidFill>
                  <a:srgbClr val="00B0F0"/>
                </a:solidFill>
                <a:latin typeface="Arial" panose="020B0604020202020204" pitchFamily="34" charset="0"/>
                <a:cs typeface="Arial" panose="020B0604020202020204" pitchFamily="34" charset="0"/>
              </a:rPr>
              <a:t>İŞ</a:t>
            </a:r>
            <a:r>
              <a:rPr lang="en-US" altLang="en-US" sz="3110" u="sng">
                <a:solidFill>
                  <a:srgbClr val="00B0F0"/>
                </a:solidFill>
                <a:latin typeface="Arial" panose="020B0604020202020204" pitchFamily="34" charset="0"/>
                <a:cs typeface="Arial" panose="020B0604020202020204" pitchFamily="34" charset="0"/>
              </a:rPr>
              <a:t>K</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N B</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LG</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LER:</a:t>
            </a:r>
            <a:endParaRPr lang="en-US" altLang="en-US" sz="3110" u="sng">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047115"/>
            <a:ext cx="8621395" cy="5153660"/>
          </a:xfrm>
        </p:spPr>
        <p:txBody>
          <a:bodyPr>
            <a:normAutofit fontScale="80000"/>
          </a:bodyPr>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irketin bilan</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o yap</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 bak</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ld</a:t>
            </a:r>
            <a:r>
              <a:rPr lang="en-US" altLang="en-US">
                <a:latin typeface="Arial" panose="020B0604020202020204" pitchFamily="34" charset="0"/>
                <a:cs typeface="Arial" panose="020B0604020202020204" pitchFamily="34" charset="0"/>
              </a:rPr>
              <a:t>ığı</a:t>
            </a:r>
            <a:r>
              <a:rPr lang="en-US" altLang="en-US">
                <a:latin typeface="Arial" panose="020B0604020202020204" pitchFamily="34" charset="0"/>
                <a:cs typeface="Arial" panose="020B0604020202020204" pitchFamily="34" charset="0"/>
              </a:rPr>
              <a:t>nda ilk dikkati </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eken husus aktif yap</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 h</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zl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büyümesidir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H</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zl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büyümenin ana etkeni al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nan i</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 hacmindeki art</a:t>
            </a:r>
            <a:r>
              <a:rPr lang="en-US" altLang="en-US">
                <a:latin typeface="Arial" panose="020B0604020202020204" pitchFamily="34" charset="0"/>
                <a:cs typeface="Arial" panose="020B0604020202020204" pitchFamily="34" charset="0"/>
              </a:rPr>
              <a:t>ış</a:t>
            </a:r>
            <a:r>
              <a:rPr lang="en-US" altLang="en-US">
                <a:latin typeface="Arial" panose="020B0604020202020204" pitchFamily="34" charset="0"/>
                <a:cs typeface="Arial" panose="020B0604020202020204" pitchFamily="34" charset="0"/>
              </a:rPr>
              <a:t>t</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Grup </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irketlerinden olan alacak Bios Makine’den olan alaca</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a ait tutard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Mali bor</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 yükü cüzi düzeydedir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Di</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er Dönen Varl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klar a</a:t>
            </a:r>
            <a:r>
              <a:rPr lang="en-US" altLang="en-US">
                <a:latin typeface="Arial" panose="020B0604020202020204" pitchFamily="34" charset="0"/>
                <a:cs typeface="Arial" panose="020B0604020202020204" pitchFamily="34" charset="0"/>
              </a:rPr>
              <a:t>ğı</a:t>
            </a:r>
            <a:r>
              <a:rPr lang="en-US" altLang="en-US">
                <a:latin typeface="Arial" panose="020B0604020202020204" pitchFamily="34" charset="0"/>
                <a:cs typeface="Arial" panose="020B0604020202020204" pitchFamily="34" charset="0"/>
              </a:rPr>
              <a:t>rl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olarak Devreden KDV ve </a:t>
            </a:r>
            <a:r>
              <a:rPr lang="en-US" altLang="en-US">
                <a:latin typeface="Arial" panose="020B0604020202020204" pitchFamily="34" charset="0"/>
                <a:cs typeface="Arial" panose="020B0604020202020204" pitchFamily="34" charset="0"/>
              </a:rPr>
              <a:t>İş</a:t>
            </a:r>
            <a:r>
              <a:rPr lang="en-US" altLang="en-US">
                <a:latin typeface="Arial" panose="020B0604020202020204" pitchFamily="34" charset="0"/>
                <a:cs typeface="Arial" panose="020B0604020202020204" pitchFamily="34" charset="0"/>
              </a:rPr>
              <a:t> Avanslar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kaynakl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MDV birikimini a</a:t>
            </a:r>
            <a:r>
              <a:rPr lang="en-US" altLang="en-US">
                <a:latin typeface="Arial" panose="020B0604020202020204" pitchFamily="34" charset="0"/>
                <a:cs typeface="Arial" panose="020B0604020202020204" pitchFamily="34" charset="0"/>
              </a:rPr>
              <a:t>ğı</a:t>
            </a:r>
            <a:r>
              <a:rPr lang="en-US" altLang="en-US">
                <a:latin typeface="Arial" panose="020B0604020202020204" pitchFamily="34" charset="0"/>
                <a:cs typeface="Arial" panose="020B0604020202020204" pitchFamily="34" charset="0"/>
              </a:rPr>
              <a:t>rl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olarak ta</a:t>
            </a:r>
            <a:r>
              <a:rPr lang="en-US" altLang="en-US">
                <a:latin typeface="Arial" panose="020B0604020202020204" pitchFamily="34" charset="0"/>
                <a:cs typeface="Arial" panose="020B0604020202020204" pitchFamily="34" charset="0"/>
              </a:rPr>
              <a:t>şı</a:t>
            </a:r>
            <a:r>
              <a:rPr lang="en-US" altLang="en-US">
                <a:latin typeface="Arial" panose="020B0604020202020204" pitchFamily="34" charset="0"/>
                <a:cs typeface="Arial" panose="020B0604020202020204" pitchFamily="34" charset="0"/>
              </a:rPr>
              <a:t>tlar olu</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turmaktad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Firma aktifinde 7 adet ta</a:t>
            </a:r>
            <a:r>
              <a:rPr lang="en-US" altLang="en-US">
                <a:latin typeface="Arial" panose="020B0604020202020204" pitchFamily="34" charset="0"/>
                <a:cs typeface="Arial" panose="020B0604020202020204" pitchFamily="34" charset="0"/>
              </a:rPr>
              <a:t>şı</a:t>
            </a:r>
            <a:r>
              <a:rPr lang="en-US" altLang="en-US">
                <a:latin typeface="Arial" panose="020B0604020202020204" pitchFamily="34" charset="0"/>
                <a:cs typeface="Arial" panose="020B0604020202020204" pitchFamily="34" charset="0"/>
              </a:rPr>
              <a:t>t bulunmaktad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Y</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 sonu 10 adet)</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Di</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er Bor</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lar personele bor</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lar ve Ödenecek vergi-fonlar hesaplar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a</a:t>
            </a:r>
            <a:r>
              <a:rPr lang="en-US" altLang="en-US">
                <a:latin typeface="Arial" panose="020B0604020202020204" pitchFamily="34" charset="0"/>
                <a:cs typeface="Arial" panose="020B0604020202020204" pitchFamily="34" charset="0"/>
              </a:rPr>
              <a:t>ğı</a:t>
            </a:r>
            <a:r>
              <a:rPr lang="en-US" altLang="en-US">
                <a:latin typeface="Arial" panose="020B0604020202020204" pitchFamily="34" charset="0"/>
                <a:cs typeface="Arial" panose="020B0604020202020204" pitchFamily="34" charset="0"/>
              </a:rPr>
              <a:t>rl</a:t>
            </a:r>
            <a:r>
              <a:rPr lang="en-US" altLang="en-US">
                <a:latin typeface="Arial" panose="020B0604020202020204" pitchFamily="34" charset="0"/>
                <a:cs typeface="Arial" panose="020B0604020202020204" pitchFamily="34" charset="0"/>
              </a:rPr>
              <a:t>ığı</a:t>
            </a:r>
            <a:r>
              <a:rPr lang="en-US" altLang="en-US">
                <a:latin typeface="Arial" panose="020B0604020202020204" pitchFamily="34" charset="0"/>
                <a:cs typeface="Arial" panose="020B0604020202020204" pitchFamily="34" charset="0"/>
              </a:rPr>
              <a:t>ndad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Haz</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de</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er birikimi art</a:t>
            </a:r>
            <a:r>
              <a:rPr lang="en-US" altLang="en-US">
                <a:latin typeface="Arial" panose="020B0604020202020204" pitchFamily="34" charset="0"/>
                <a:cs typeface="Arial" panose="020B0604020202020204" pitchFamily="34" charset="0"/>
              </a:rPr>
              <a:t>ış</a:t>
            </a:r>
            <a:r>
              <a:rPr lang="en-US" altLang="en-US">
                <a:latin typeface="Arial" panose="020B0604020202020204" pitchFamily="34" charset="0"/>
                <a:cs typeface="Arial" panose="020B0604020202020204" pitchFamily="34" charset="0"/>
              </a:rPr>
              <a:t> i</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erisindedir</a:t>
            </a:r>
            <a:r>
              <a:rPr lang="tr-TR" altLang="en-US">
                <a:latin typeface="Arial" panose="020B0604020202020204" pitchFamily="34" charset="0"/>
                <a:cs typeface="Arial" panose="020B0604020202020204" pitchFamily="34" charset="0"/>
              </a:rPr>
              <a:t> </a:t>
            </a: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19760" y="314960"/>
            <a:ext cx="7335520" cy="530225"/>
          </a:xfrm>
        </p:spPr>
        <p:txBody>
          <a:bodyPr/>
          <a:p>
            <a:r>
              <a:rPr lang="tr-TR" altLang="en-US" sz="2800" u="sng">
                <a:solidFill>
                  <a:srgbClr val="00B0F0"/>
                </a:solidFill>
                <a:latin typeface="Arial" panose="020B0604020202020204" pitchFamily="34" charset="0"/>
                <a:cs typeface="Arial" panose="020B0604020202020204" pitchFamily="34" charset="0"/>
              </a:rPr>
              <a:t>RASYOLAR</a:t>
            </a:r>
            <a:endParaRPr lang="tr-TR" altLang="en-US" sz="2800" u="sng">
              <a:solidFill>
                <a:srgbClr val="00B0F0"/>
              </a:solidFill>
              <a:latin typeface="Arial" panose="020B0604020202020204" pitchFamily="34" charset="0"/>
              <a:cs typeface="Arial" panose="020B0604020202020204" pitchFamily="34" charset="0"/>
            </a:endParaRPr>
          </a:p>
        </p:txBody>
      </p:sp>
      <p:pic>
        <p:nvPicPr>
          <p:cNvPr id="10" name="Picture 10" descr="BBBB"/>
          <p:cNvPicPr>
            <a:picLocks noChangeAspect="1"/>
          </p:cNvPicPr>
          <p:nvPr>
            <p:ph idx="1"/>
          </p:nvPr>
        </p:nvPicPr>
        <p:blipFill>
          <a:blip r:embed="rId1"/>
          <a:stretch>
            <a:fillRect/>
          </a:stretch>
        </p:blipFill>
        <p:spPr>
          <a:xfrm>
            <a:off x="510540" y="918845"/>
            <a:ext cx="10004425" cy="53892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a:bodyPr>
          <a:p>
            <a:r>
              <a:rPr lang="en-US" altLang="en-US" sz="3110" u="sng">
                <a:solidFill>
                  <a:srgbClr val="00B0F0"/>
                </a:solidFill>
                <a:latin typeface="Arial" panose="020B0604020202020204" pitchFamily="34" charset="0"/>
                <a:cs typeface="Arial" panose="020B0604020202020204" pitchFamily="34" charset="0"/>
                <a:sym typeface="+mn-ea"/>
              </a:rPr>
              <a:t>GÜÇLÜ YÖNLER</a:t>
            </a:r>
            <a:r>
              <a:rPr lang="en-US" altLang="en-US" sz="3110" u="sng">
                <a:solidFill>
                  <a:srgbClr val="00B0F0"/>
                </a:solidFill>
                <a:latin typeface="Arial" panose="020B0604020202020204" pitchFamily="34" charset="0"/>
                <a:cs typeface="Arial" panose="020B0604020202020204" pitchFamily="34" charset="0"/>
              </a:rPr>
              <a:t>:</a:t>
            </a:r>
            <a:endParaRPr lang="en-US" altLang="en-US" sz="3110" u="sng">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047115"/>
            <a:ext cx="8621395" cy="5153660"/>
          </a:xfrm>
        </p:spPr>
        <p:txBody>
          <a:bodyPr>
            <a:normAutofit/>
          </a:bodyPr>
          <a:p>
            <a:pPr>
              <a:buFont typeface="Wingdings" panose="05000000000000000000" charset="0"/>
              <a:buChar char="Ø"/>
            </a:pPr>
            <a:r>
              <a:rPr lang="en-US" altLang="en-US">
                <a:latin typeface="Arial" panose="020B0604020202020204" pitchFamily="34" charset="0"/>
                <a:cs typeface="Arial" panose="020B0604020202020204" pitchFamily="34" charset="0"/>
              </a:rPr>
              <a:t>Firma hacmi ve aktif büyüklü</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ü h</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zl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ekilde büyümü</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tür</a:t>
            </a:r>
            <a:r>
              <a:rPr lang="tr-TR" altLang="en-US">
                <a:latin typeface="Arial" panose="020B0604020202020204" pitchFamily="34" charset="0"/>
                <a:cs typeface="Arial" panose="020B0604020202020204" pitchFamily="34" charset="0"/>
              </a:rPr>
              <a:t>*</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Haz</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de</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er birikimi artmaktad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Al. Sip. Avans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kaynak maliyetini dü</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ürmektedir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Dip karl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 son iki dönem makul düzeydedir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Net </a:t>
            </a:r>
            <a:r>
              <a:rPr lang="en-US" altLang="en-US">
                <a:latin typeface="Arial" panose="020B0604020202020204" pitchFamily="34" charset="0"/>
                <a:cs typeface="Arial" panose="020B0604020202020204" pitchFamily="34" charset="0"/>
              </a:rPr>
              <a:t>İş</a:t>
            </a:r>
            <a:r>
              <a:rPr lang="en-US" altLang="en-US">
                <a:latin typeface="Arial" panose="020B0604020202020204" pitchFamily="34" charset="0"/>
                <a:cs typeface="Arial" panose="020B0604020202020204" pitchFamily="34" charset="0"/>
              </a:rPr>
              <a:t>letme Sermayesi art</a:t>
            </a:r>
            <a:r>
              <a:rPr lang="en-US" altLang="en-US">
                <a:latin typeface="Arial" panose="020B0604020202020204" pitchFamily="34" charset="0"/>
                <a:cs typeface="Arial" panose="020B0604020202020204" pitchFamily="34" charset="0"/>
              </a:rPr>
              <a:t>ış</a:t>
            </a:r>
            <a:r>
              <a:rPr lang="en-US" altLang="en-US">
                <a:latin typeface="Arial" panose="020B0604020202020204" pitchFamily="34" charset="0"/>
                <a:cs typeface="Arial" panose="020B0604020202020204" pitchFamily="34" charset="0"/>
              </a:rPr>
              <a:t> i</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erisinde</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Cari oran makul</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ASA hesaplama d</a:t>
            </a:r>
            <a:r>
              <a:rPr lang="en-US" altLang="en-US">
                <a:latin typeface="Arial" panose="020B0604020202020204" pitchFamily="34" charset="0"/>
                <a:cs typeface="Arial" panose="020B0604020202020204" pitchFamily="34" charset="0"/>
              </a:rPr>
              <a:t>ışı</a:t>
            </a:r>
            <a:r>
              <a:rPr lang="en-US" altLang="en-US">
                <a:latin typeface="Arial" panose="020B0604020202020204" pitchFamily="34" charset="0"/>
                <a:cs typeface="Arial" panose="020B0604020202020204" pitchFamily="34" charset="0"/>
              </a:rPr>
              <a:t> tutuldu</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unda bor</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lanma oran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azal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yor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NONA pozitif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tr-TR" altLang="en-US">
                <a:latin typeface="Arial" panose="020B0604020202020204" pitchFamily="34" charset="0"/>
                <a:cs typeface="Arial" panose="020B0604020202020204" pitchFamily="34" charset="0"/>
              </a:rPr>
              <a:t>    Müşteri portföyünde kurumsal firmalar yoğun olarak bulunmaktadır</a:t>
            </a: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a:bodyPr>
          <a:p>
            <a:r>
              <a:rPr lang="en-US" altLang="en-US" sz="3110" u="sng">
                <a:solidFill>
                  <a:srgbClr val="00B0F0"/>
                </a:solidFill>
                <a:latin typeface="Arial" panose="020B0604020202020204" pitchFamily="34" charset="0"/>
                <a:cs typeface="Arial" panose="020B0604020202020204" pitchFamily="34" charset="0"/>
                <a:sym typeface="+mn-ea"/>
              </a:rPr>
              <a:t>G</a:t>
            </a:r>
            <a:r>
              <a:rPr lang="tr-TR" altLang="en-US" sz="3110" u="sng">
                <a:solidFill>
                  <a:srgbClr val="00B0F0"/>
                </a:solidFill>
                <a:latin typeface="Arial" panose="020B0604020202020204" pitchFamily="34" charset="0"/>
                <a:cs typeface="Arial" panose="020B0604020202020204" pitchFamily="34" charset="0"/>
                <a:sym typeface="+mn-ea"/>
              </a:rPr>
              <a:t>ELİŞMESİ GEREKEN </a:t>
            </a:r>
            <a:r>
              <a:rPr lang="en-US" altLang="en-US" sz="3110" u="sng">
                <a:solidFill>
                  <a:srgbClr val="00B0F0"/>
                </a:solidFill>
                <a:latin typeface="Arial" panose="020B0604020202020204" pitchFamily="34" charset="0"/>
                <a:cs typeface="Arial" panose="020B0604020202020204" pitchFamily="34" charset="0"/>
                <a:sym typeface="+mn-ea"/>
              </a:rPr>
              <a:t>YÖNLER</a:t>
            </a:r>
            <a:r>
              <a:rPr lang="en-US" altLang="en-US" sz="3110" u="sng">
                <a:solidFill>
                  <a:srgbClr val="00B0F0"/>
                </a:solidFill>
                <a:latin typeface="Arial" panose="020B0604020202020204" pitchFamily="34" charset="0"/>
                <a:cs typeface="Arial" panose="020B0604020202020204" pitchFamily="34" charset="0"/>
              </a:rPr>
              <a:t>:</a:t>
            </a:r>
            <a:endParaRPr lang="en-US" altLang="en-US" sz="3110" u="sng">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375410"/>
            <a:ext cx="8621395" cy="5153660"/>
          </a:xfrm>
        </p:spPr>
        <p:txBody>
          <a:bodyPr>
            <a:normAutofit/>
          </a:bodyPr>
          <a:p>
            <a:pPr>
              <a:buFont typeface="Wingdings" panose="05000000000000000000" charset="0"/>
              <a:buChar char="Ø"/>
            </a:pPr>
            <a:r>
              <a:rPr lang="en-US" altLang="en-US">
                <a:latin typeface="Arial" panose="020B0604020202020204" pitchFamily="34" charset="0"/>
                <a:cs typeface="Arial" panose="020B0604020202020204" pitchFamily="34" charset="0"/>
              </a:rPr>
              <a:t>Banka kaynaklar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verimli ve </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itli de</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ildir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Özkaynaklar artan hacme paralel büyümemi</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tir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Kaydi karl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 zay</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f veya negatiftir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İ</a:t>
            </a:r>
            <a:r>
              <a:rPr lang="en-US" altLang="en-US">
                <a:latin typeface="Arial" panose="020B0604020202020204" pitchFamily="34" charset="0"/>
                <a:cs typeface="Arial" panose="020B0604020202020204" pitchFamily="34" charset="0"/>
              </a:rPr>
              <a:t>S negatiftir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Bor</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lanma oran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yüksektir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Mali veri kalitesi zay</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ft</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Stok devir süresi yüksektir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tr-TR" altLang="en-US">
                <a:latin typeface="Arial" panose="020B0604020202020204" pitchFamily="34" charset="0"/>
                <a:cs typeface="Arial" panose="020B0604020202020204" pitchFamily="34" charset="0"/>
              </a:rPr>
              <a:t>    Alacak tahsilatında gecikmeler yaşanmaktadır</a:t>
            </a: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19760" y="333375"/>
            <a:ext cx="8858250" cy="1268730"/>
          </a:xfrm>
        </p:spPr>
        <p:txBody>
          <a:bodyPr>
            <a:normAutofit/>
          </a:bodyPr>
          <a:p>
            <a:r>
              <a:rPr lang="en-US" altLang="en-US" sz="3110" u="sng">
                <a:solidFill>
                  <a:srgbClr val="00B0F0"/>
                </a:solidFill>
                <a:latin typeface="Arial" panose="020B0604020202020204" pitchFamily="34" charset="0"/>
                <a:cs typeface="Arial" panose="020B0604020202020204" pitchFamily="34" charset="0"/>
              </a:rPr>
              <a:t>G</a:t>
            </a:r>
            <a:r>
              <a:rPr lang="en-US" altLang="en-US" sz="3110" u="sng">
                <a:solidFill>
                  <a:srgbClr val="00B0F0"/>
                </a:solidFill>
                <a:latin typeface="Arial" panose="020B0604020202020204" pitchFamily="34" charset="0"/>
                <a:cs typeface="Arial" panose="020B0604020202020204" pitchFamily="34" charset="0"/>
              </a:rPr>
              <a:t>Ü</a:t>
            </a:r>
            <a:r>
              <a:rPr lang="en-US" altLang="en-US" sz="3110" u="sng">
                <a:solidFill>
                  <a:srgbClr val="00B0F0"/>
                </a:solidFill>
                <a:latin typeface="Arial" panose="020B0604020202020204" pitchFamily="34" charset="0"/>
                <a:cs typeface="Arial" panose="020B0604020202020204" pitchFamily="34" charset="0"/>
              </a:rPr>
              <a:t>NCEL BANKA </a:t>
            </a:r>
            <a:r>
              <a:rPr lang="tr-TR" altLang="en-US" sz="3110" u="sng">
                <a:solidFill>
                  <a:srgbClr val="00B0F0"/>
                </a:solidFill>
                <a:latin typeface="Arial" panose="020B0604020202020204" pitchFamily="34" charset="0"/>
                <a:cs typeface="Arial" panose="020B0604020202020204" pitchFamily="34" charset="0"/>
              </a:rPr>
              <a:t>LİMİT-</a:t>
            </a:r>
            <a:r>
              <a:rPr lang="en-US" altLang="en-US" sz="3110" u="sng">
                <a:solidFill>
                  <a:srgbClr val="00B0F0"/>
                </a:solidFill>
                <a:latin typeface="Arial" panose="020B0604020202020204" pitchFamily="34" charset="0"/>
                <a:cs typeface="Arial" panose="020B0604020202020204" pitchFamily="34" charset="0"/>
              </a:rPr>
              <a:t>R</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SK DURUMU</a:t>
            </a:r>
            <a:endParaRPr lang="en-US" altLang="en-US" sz="3110" u="sng">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sz="half" idx="1"/>
          </p:nvPr>
        </p:nvSpPr>
        <p:spPr/>
        <p:txBody>
          <a:bodyPr>
            <a:normAutofit/>
          </a:bodyPr>
          <a:p>
            <a:pPr marL="0" indent="0">
              <a:buFont typeface="Wingdings" panose="05000000000000000000" charset="0"/>
              <a:buNone/>
            </a:pPr>
            <a:endParaRPr lang="tr-TR" altLang="en-US">
              <a:latin typeface="Arial" panose="020B0604020202020204" pitchFamily="34" charset="0"/>
              <a:cs typeface="Arial" panose="020B0604020202020204" pitchFamily="34" charset="0"/>
            </a:endParaRPr>
          </a:p>
          <a:p>
            <a:pPr marL="0" indent="0">
              <a:buFont typeface="Wingdings" panose="05000000000000000000" charset="0"/>
              <a:buNone/>
            </a:pPr>
            <a:endParaRPr lang="tr-TR" altLang="en-US">
              <a:latin typeface="Arial" panose="020B0604020202020204" pitchFamily="34" charset="0"/>
              <a:cs typeface="Arial" panose="020B0604020202020204" pitchFamily="34" charset="0"/>
            </a:endParaRPr>
          </a:p>
        </p:txBody>
      </p:sp>
      <p:graphicFrame>
        <p:nvGraphicFramePr>
          <p:cNvPr id="4" name="Content Placeholder 3"/>
          <p:cNvGraphicFramePr/>
          <p:nvPr>
            <p:ph sz="half" idx="2"/>
            <p:custDataLst>
              <p:tags r:id="rId1"/>
            </p:custDataLst>
          </p:nvPr>
        </p:nvGraphicFramePr>
        <p:xfrm>
          <a:off x="908050" y="1032510"/>
          <a:ext cx="8658225" cy="3086100"/>
        </p:xfrm>
        <a:graphic>
          <a:graphicData uri="http://schemas.openxmlformats.org/drawingml/2006/table">
            <a:tbl>
              <a:tblPr/>
              <a:tblGrid>
                <a:gridCol w="1597660"/>
                <a:gridCol w="1530350"/>
                <a:gridCol w="1381760"/>
                <a:gridCol w="1383030"/>
                <a:gridCol w="1382395"/>
                <a:gridCol w="1383030"/>
              </a:tblGrid>
              <a:tr h="643890">
                <a:tc>
                  <a:txBody>
                    <a:bodyPr/>
                    <a:p>
                      <a:pPr algn="ctr"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(BİN TL)</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ctr"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LİMİT</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ctr"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NAKDİ LİMİT</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ctr"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NAKDİ RİSK</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ctr"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G.NAKDİ RİSK</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ctr"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TOPLAM RİSK</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r>
              <a:tr h="407035">
                <a:tc>
                  <a:txBody>
                    <a:bodyPr/>
                    <a:p>
                      <a:pPr algn="l"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BANKA 1</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15</a:t>
                      </a:r>
                      <a:r>
                        <a:rPr sz="1800" i="0">
                          <a:solidFill>
                            <a:srgbClr val="000000"/>
                          </a:solidFill>
                          <a:latin typeface="Calibri" panose="020F0502020204030204"/>
                          <a:ea typeface="SimSun" panose="02010600030101010101" pitchFamily="2" charset="-122"/>
                        </a:rPr>
                        <a:t>.000</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500</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33</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5.120</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5.153</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r>
              <a:tr h="407035">
                <a:tc>
                  <a:txBody>
                    <a:bodyPr/>
                    <a:p>
                      <a:pPr algn="l"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BANKA 2</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3.906</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3.583</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3.171</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263</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3.435</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r>
              <a:tr h="407035">
                <a:tc>
                  <a:txBody>
                    <a:bodyPr/>
                    <a:p>
                      <a:pPr algn="l"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BANKA 3</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870</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450</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0</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0</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0</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r>
              <a:tr h="407035">
                <a:tc>
                  <a:txBody>
                    <a:bodyPr/>
                    <a:p>
                      <a:pPr algn="l" fontAlgn="b">
                        <a:lnSpc>
                          <a:spcPct val="114000"/>
                        </a:lnSpc>
                        <a:spcBef>
                          <a:spcPct val="0"/>
                        </a:spcBef>
                        <a:spcAft>
                          <a:spcPct val="0"/>
                        </a:spcAft>
                      </a:pPr>
                      <a:r>
                        <a:rPr sz="1800" b="1" i="0">
                          <a:solidFill>
                            <a:srgbClr val="000000"/>
                          </a:solidFill>
                          <a:latin typeface="Calibri" panose="020F0502020204030204"/>
                          <a:ea typeface="Calibri" panose="020F0502020204030204"/>
                        </a:rPr>
                        <a:t>BANKA 4</a:t>
                      </a:r>
                      <a:endParaRPr sz="1800" b="1" i="0">
                        <a:solidFill>
                          <a:srgbClr val="000000"/>
                        </a:solidFill>
                        <a:latin typeface="Calibri" panose="020F0502020204030204"/>
                        <a:ea typeface="Calibri" panose="020F0502020204030204"/>
                      </a:endParaRPr>
                    </a:p>
                  </a:txBody>
                  <a:tcPr marL="0" marR="0" marT="0" marB="0" anchor="b"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2.112</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150</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0</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0</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Calibri" panose="020F0502020204030204"/>
                        </a:rPr>
                        <a:t>0</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r>
              <a:tr h="407035">
                <a:tc>
                  <a:txBody>
                    <a:bodyPr/>
                    <a:p>
                      <a:pPr algn="l"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PASİFLER(4</a:t>
                      </a:r>
                      <a:r>
                        <a:rPr sz="1800" b="1" i="0">
                          <a:solidFill>
                            <a:srgbClr val="000000"/>
                          </a:solidFill>
                          <a:latin typeface="Calibri" panose="020F0502020204030204"/>
                          <a:ea typeface="SimSun" panose="02010600030101010101" pitchFamily="2" charset="-122"/>
                        </a:rPr>
                        <a:t>)</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3.621</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2.061</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17</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a:lnSpc>
                          <a:spcPct val="114000"/>
                        </a:lnSpc>
                        <a:spcBef>
                          <a:spcPct val="0"/>
                        </a:spcBef>
                        <a:spcAft>
                          <a:spcPct val="0"/>
                        </a:spcAft>
                      </a:pPr>
                      <a:r>
                        <a:rPr sz="1800" i="0">
                          <a:solidFill>
                            <a:srgbClr val="000000"/>
                          </a:solidFill>
                          <a:latin typeface="Calibri" panose="020F0502020204030204"/>
                          <a:ea typeface="Calibri" panose="020F0502020204030204"/>
                        </a:rPr>
                        <a:t>0</a:t>
                      </a:r>
                      <a:endParaRPr sz="1800"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i="0">
                          <a:solidFill>
                            <a:srgbClr val="000000"/>
                          </a:solidFill>
                          <a:latin typeface="Calibri" panose="020F0502020204030204"/>
                          <a:ea typeface="SimSun" panose="02010600030101010101" pitchFamily="2" charset="-122"/>
                        </a:rPr>
                        <a:t>17</a:t>
                      </a:r>
                      <a:endParaRPr sz="1800"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r>
              <a:tr h="407035">
                <a:tc>
                  <a:txBody>
                    <a:bodyPr/>
                    <a:p>
                      <a:pPr algn="l" fontAlgn="b">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TOPLAM</a:t>
                      </a:r>
                      <a:endParaRPr sz="1800" b="1" i="0">
                        <a:solidFill>
                          <a:srgbClr val="000000"/>
                        </a:solidFill>
                        <a:latin typeface="Calibri" panose="020F0502020204030204"/>
                        <a:ea typeface="SimSun" panose="02010600030101010101" pitchFamily="2" charset="-122"/>
                      </a:endParaRPr>
                    </a:p>
                  </a:txBody>
                  <a:tcPr marL="0" marR="0" marT="0" marB="0" anchor="b" anchorCtr="0">
                    <a:lnL>
                      <a:noFill/>
                    </a:lnL>
                    <a:lnR>
                      <a:noFill/>
                    </a:lnR>
                    <a:lnT>
                      <a:noFill/>
                    </a:lnT>
                    <a:lnB>
                      <a:noFill/>
                    </a:lnB>
                    <a:noFill/>
                  </a:tcPr>
                </a:tc>
                <a:tc>
                  <a:txBody>
                    <a:bodyPr/>
                    <a:p>
                      <a:pPr algn="l" fontAlgn="ctr">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25.512</a:t>
                      </a:r>
                      <a:endParaRPr sz="18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6.744</a:t>
                      </a:r>
                      <a:endParaRPr sz="18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4.218</a:t>
                      </a:r>
                      <a:endParaRPr sz="18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b="1" i="0">
                          <a:solidFill>
                            <a:srgbClr val="000000"/>
                          </a:solidFill>
                          <a:latin typeface="Calibri" panose="020F0502020204030204"/>
                          <a:ea typeface="SimSun" panose="02010600030101010101" pitchFamily="2" charset="-122"/>
                        </a:rPr>
                        <a:t>5.383</a:t>
                      </a:r>
                      <a:endParaRPr sz="18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l" fontAlgn="ctr">
                        <a:lnSpc>
                          <a:spcPct val="114000"/>
                        </a:lnSpc>
                        <a:spcBef>
                          <a:spcPct val="0"/>
                        </a:spcBef>
                        <a:spcAft>
                          <a:spcPct val="0"/>
                        </a:spcAft>
                      </a:pPr>
                      <a:r>
                        <a:rPr sz="1800" b="1" i="0">
                          <a:solidFill>
                            <a:srgbClr val="000000"/>
                          </a:solidFill>
                          <a:latin typeface="Calibri" panose="020F0502020204030204"/>
                          <a:ea typeface="Calibri" panose="020F0502020204030204"/>
                        </a:rPr>
                        <a:t>9.600</a:t>
                      </a:r>
                      <a:endParaRPr sz="1800" b="1" i="0">
                        <a:solidFill>
                          <a:srgbClr val="000000"/>
                        </a:solidFill>
                        <a:latin typeface="Calibri" panose="020F0502020204030204"/>
                        <a:ea typeface="Calibri" panose="020F0502020204030204"/>
                      </a:endParaRPr>
                    </a:p>
                  </a:txBody>
                  <a:tcPr marL="0" marR="0" marT="0" marB="0" anchor="ctr" anchorCtr="0">
                    <a:lnL>
                      <a:noFill/>
                    </a:lnL>
                    <a:lnR>
                      <a:noFill/>
                    </a:lnR>
                    <a:lnT>
                      <a:noFill/>
                    </a:lnT>
                    <a:lnB>
                      <a:noFill/>
                    </a:lnB>
                    <a:noFill/>
                  </a:tcPr>
                </a:tc>
              </a:tr>
            </a:tbl>
          </a:graphicData>
        </a:graphic>
      </p:graphicFrame>
      <p:graphicFrame>
        <p:nvGraphicFramePr>
          <p:cNvPr id="5" name="Table 4"/>
          <p:cNvGraphicFramePr/>
          <p:nvPr>
            <p:custDataLst>
              <p:tags r:id="rId2"/>
            </p:custDataLst>
          </p:nvPr>
        </p:nvGraphicFramePr>
        <p:xfrm>
          <a:off x="908050" y="4424045"/>
          <a:ext cx="8658225" cy="1502410"/>
        </p:xfrm>
        <a:graphic>
          <a:graphicData uri="http://schemas.openxmlformats.org/drawingml/2006/table">
            <a:tbl>
              <a:tblPr/>
              <a:tblGrid>
                <a:gridCol w="6155055"/>
                <a:gridCol w="2503170"/>
              </a:tblGrid>
              <a:tr h="751205">
                <a:tc>
                  <a:txBody>
                    <a:bodyPr/>
                    <a:p>
                      <a:pPr algn="ctr" fontAlgn="ctr">
                        <a:lnSpc>
                          <a:spcPct val="114000"/>
                        </a:lnSpc>
                        <a:spcBef>
                          <a:spcPct val="0"/>
                        </a:spcBef>
                        <a:spcAft>
                          <a:spcPct val="0"/>
                        </a:spcAft>
                      </a:pPr>
                      <a:r>
                        <a:rPr sz="2000" b="1" i="0">
                          <a:solidFill>
                            <a:srgbClr val="000000"/>
                          </a:solidFill>
                          <a:latin typeface="Calibri" panose="020F0502020204030204"/>
                          <a:ea typeface="SimSun" panose="02010600030101010101" pitchFamily="2" charset="-122"/>
                        </a:rPr>
                        <a:t>NAKDİ LİMİT DOLULUK ORANI</a:t>
                      </a:r>
                      <a:endParaRPr sz="20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ctr" fontAlgn="ctr">
                        <a:lnSpc>
                          <a:spcPct val="114000"/>
                        </a:lnSpc>
                        <a:spcBef>
                          <a:spcPct val="0"/>
                        </a:spcBef>
                        <a:spcAft>
                          <a:spcPct val="0"/>
                        </a:spcAft>
                      </a:pPr>
                      <a:r>
                        <a:rPr sz="2000" b="1" i="0">
                          <a:solidFill>
                            <a:srgbClr val="C00000"/>
                          </a:solidFill>
                          <a:latin typeface="Calibri" panose="020F0502020204030204"/>
                          <a:ea typeface="SimSun" panose="02010600030101010101" pitchFamily="2" charset="-122"/>
                        </a:rPr>
                        <a:t>63</a:t>
                      </a:r>
                      <a:r>
                        <a:rPr sz="2000" b="1" i="0">
                          <a:solidFill>
                            <a:srgbClr val="C00000"/>
                          </a:solidFill>
                          <a:latin typeface="Calibri" panose="020F0502020204030204"/>
                          <a:ea typeface="SimSun" panose="02010600030101010101" pitchFamily="2" charset="-122"/>
                        </a:rPr>
                        <a:t>%</a:t>
                      </a:r>
                      <a:endParaRPr sz="2000" b="1" i="0">
                        <a:solidFill>
                          <a:srgbClr val="C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r>
              <a:tr h="751205">
                <a:tc>
                  <a:txBody>
                    <a:bodyPr/>
                    <a:p>
                      <a:pPr algn="ctr" fontAlgn="ctr">
                        <a:lnSpc>
                          <a:spcPct val="114000"/>
                        </a:lnSpc>
                        <a:spcBef>
                          <a:spcPct val="0"/>
                        </a:spcBef>
                        <a:spcAft>
                          <a:spcPct val="0"/>
                        </a:spcAft>
                      </a:pPr>
                      <a:r>
                        <a:rPr sz="2000" b="1" i="0">
                          <a:solidFill>
                            <a:srgbClr val="000000"/>
                          </a:solidFill>
                          <a:latin typeface="Calibri" panose="020F0502020204030204"/>
                          <a:ea typeface="SimSun" panose="02010600030101010101" pitchFamily="2" charset="-122"/>
                        </a:rPr>
                        <a:t>KABUL GÖREN EŞİK</a:t>
                      </a:r>
                      <a:endParaRPr sz="20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c>
                  <a:txBody>
                    <a:bodyPr/>
                    <a:p>
                      <a:pPr algn="ctr" fontAlgn="ctr">
                        <a:lnSpc>
                          <a:spcPct val="114000"/>
                        </a:lnSpc>
                        <a:spcBef>
                          <a:spcPct val="0"/>
                        </a:spcBef>
                        <a:spcAft>
                          <a:spcPct val="0"/>
                        </a:spcAft>
                      </a:pPr>
                      <a:r>
                        <a:rPr sz="2000" b="1" i="0">
                          <a:solidFill>
                            <a:srgbClr val="000000"/>
                          </a:solidFill>
                          <a:latin typeface="Calibri" panose="020F0502020204030204"/>
                          <a:ea typeface="SimSun" panose="02010600030101010101" pitchFamily="2" charset="-122"/>
                        </a:rPr>
                        <a:t>50%</a:t>
                      </a:r>
                      <a:endParaRPr sz="2000" b="1" i="0">
                        <a:solidFill>
                          <a:srgbClr val="000000"/>
                        </a:solidFill>
                        <a:latin typeface="Calibri" panose="020F0502020204030204"/>
                        <a:ea typeface="SimSun" panose="02010600030101010101" pitchFamily="2" charset="-122"/>
                      </a:endParaRPr>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a:bodyPr>
          <a:p>
            <a:r>
              <a:rPr lang="tr-TR" altLang="en-US" sz="3110" u="sng">
                <a:solidFill>
                  <a:srgbClr val="00B0F0"/>
                </a:solidFill>
                <a:latin typeface="Arial" panose="020B0604020202020204" pitchFamily="34" charset="0"/>
                <a:cs typeface="Arial" panose="020B0604020202020204" pitchFamily="34" charset="0"/>
                <a:sym typeface="+mn-ea"/>
              </a:rPr>
              <a:t>RİSKLER</a:t>
            </a:r>
            <a:r>
              <a:rPr lang="en-US" altLang="en-US" sz="3110" u="sng">
                <a:solidFill>
                  <a:srgbClr val="00B0F0"/>
                </a:solidFill>
                <a:latin typeface="Arial" panose="020B0604020202020204" pitchFamily="34" charset="0"/>
                <a:cs typeface="Arial" panose="020B0604020202020204" pitchFamily="34" charset="0"/>
              </a:rPr>
              <a:t>:</a:t>
            </a:r>
            <a:endParaRPr lang="en-US" altLang="en-US" sz="3110" u="sng">
              <a:solidFill>
                <a:srgbClr val="00B0F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047115"/>
            <a:ext cx="8621395" cy="5153660"/>
          </a:xfrm>
        </p:spPr>
        <p:txBody>
          <a:bodyPr>
            <a:normAutofit fontScale="90000" lnSpcReduction="20000"/>
          </a:bodyPr>
          <a:p>
            <a:pPr>
              <a:buFont typeface="Wingdings" panose="05000000000000000000" charset="0"/>
              <a:buChar char="Ø"/>
            </a:pPr>
            <a:r>
              <a:rPr lang="en-US" altLang="en-US">
                <a:latin typeface="Arial" panose="020B0604020202020204" pitchFamily="34" charset="0"/>
                <a:cs typeface="Arial" panose="020B0604020202020204" pitchFamily="34" charset="0"/>
              </a:rPr>
              <a:t>Kredi 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mas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2023’ün 2. yar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nda artmaya ba</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lam</a:t>
            </a:r>
            <a:r>
              <a:rPr lang="en-US" altLang="en-US">
                <a:latin typeface="Arial" panose="020B0604020202020204" pitchFamily="34" charset="0"/>
                <a:cs typeface="Arial" panose="020B0604020202020204" pitchFamily="34" charset="0"/>
              </a:rPr>
              <a:t>ış</a:t>
            </a:r>
            <a:r>
              <a:rPr lang="en-US" altLang="en-US">
                <a:latin typeface="Arial" panose="020B0604020202020204" pitchFamily="34" charset="0"/>
                <a:cs typeface="Arial" panose="020B0604020202020204" pitchFamily="34" charset="0"/>
              </a:rPr>
              <a:t> olup halen devam etmektedir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Kredi 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mas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 devam etmesi, hem mevduat hem de kredi oranlar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 k</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sa vadede dü</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mesi beklenmemektedir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Global riskler artarak devam etmektedir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Kredi 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mas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sadece talebi de</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il zincirleme olarak yat</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mlar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ve fiyat art</a:t>
            </a:r>
            <a:r>
              <a:rPr lang="en-US" altLang="en-US">
                <a:latin typeface="Arial" panose="020B0604020202020204" pitchFamily="34" charset="0"/>
                <a:cs typeface="Arial" panose="020B0604020202020204" pitchFamily="34" charset="0"/>
              </a:rPr>
              <a:t>ış</a:t>
            </a:r>
            <a:r>
              <a:rPr lang="en-US" altLang="en-US">
                <a:latin typeface="Arial" panose="020B0604020202020204" pitchFamily="34" charset="0"/>
                <a:cs typeface="Arial" panose="020B0604020202020204" pitchFamily="34" charset="0"/>
              </a:rPr>
              <a:t>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da bask</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lamaktad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H</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zl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artan i</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 hacmi ve tek sektöre ba</a:t>
            </a:r>
            <a:r>
              <a:rPr lang="en-US" altLang="en-US">
                <a:latin typeface="Arial" panose="020B0604020202020204" pitchFamily="34" charset="0"/>
                <a:cs typeface="Arial" panose="020B0604020202020204" pitchFamily="34" charset="0"/>
              </a:rPr>
              <a:t>ğı</a:t>
            </a:r>
            <a:r>
              <a:rPr lang="en-US" altLang="en-US">
                <a:latin typeface="Arial" panose="020B0604020202020204" pitchFamily="34" charset="0"/>
                <a:cs typeface="Arial" panose="020B0604020202020204" pitchFamily="34" charset="0"/>
              </a:rPr>
              <a:t>ml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 stagflasyon ortam</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nda yo</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un risk i</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ermektedir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Talep daralmas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ve krediye ula</a:t>
            </a:r>
            <a:r>
              <a:rPr lang="en-US" altLang="en-US">
                <a:latin typeface="Arial" panose="020B0604020202020204" pitchFamily="34" charset="0"/>
                <a:cs typeface="Arial" panose="020B0604020202020204" pitchFamily="34" charset="0"/>
              </a:rPr>
              <a:t>şı</a:t>
            </a:r>
            <a:r>
              <a:rPr lang="en-US" altLang="en-US">
                <a:latin typeface="Arial" panose="020B0604020202020204" pitchFamily="34" charset="0"/>
                <a:cs typeface="Arial" panose="020B0604020202020204" pitchFamily="34" charset="0"/>
              </a:rPr>
              <a:t>mdaki zorlu</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un sektördeki fiyat art</a:t>
            </a:r>
            <a:r>
              <a:rPr lang="en-US" altLang="en-US">
                <a:latin typeface="Arial" panose="020B0604020202020204" pitchFamily="34" charset="0"/>
                <a:cs typeface="Arial" panose="020B0604020202020204" pitchFamily="34" charset="0"/>
              </a:rPr>
              <a:t>ış</a:t>
            </a:r>
            <a:r>
              <a:rPr lang="en-US" altLang="en-US">
                <a:latin typeface="Arial" panose="020B0604020202020204" pitchFamily="34" charset="0"/>
                <a:cs typeface="Arial" panose="020B0604020202020204" pitchFamily="34" charset="0"/>
              </a:rPr>
              <a:t>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 reel  enflasyondan daha dü</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ük kalmas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 sebep olma ihtimali  yüksektir</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Bankalarda dönem dönem kredi kulland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mlar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 durdurulmas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uygulanmaktad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Alternatif kaynak </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itlili</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i dü</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ük düzeydedir</a:t>
            </a:r>
            <a:r>
              <a:rPr lang="en-US" altLang="en-US">
                <a:latin typeface="Arial" panose="020B0604020202020204" pitchFamily="34" charset="0"/>
                <a:cs typeface="Arial" panose="020B0604020202020204" pitchFamily="34" charset="0"/>
              </a:rPr>
              <a:t> </a:t>
            </a:r>
            <a:endParaRPr lang="en-US" altLang="en-US">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fontScale="90000"/>
          </a:bodyPr>
          <a:p>
            <a:r>
              <a:rPr lang="en-US" altLang="en-US" sz="3110" u="sng">
                <a:solidFill>
                  <a:srgbClr val="00B0F0"/>
                </a:solidFill>
                <a:latin typeface="Arial" panose="020B0604020202020204" pitchFamily="34" charset="0"/>
                <a:cs typeface="Arial" panose="020B0604020202020204" pitchFamily="34" charset="0"/>
              </a:rPr>
              <a:t>ALINACAK AKS</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YONLAR:</a:t>
            </a:r>
            <a:br>
              <a:rPr lang="en-US" altLang="en-US" sz="3110" u="sng">
                <a:solidFill>
                  <a:srgbClr val="00B0F0"/>
                </a:solidFill>
                <a:latin typeface="Arial" panose="020B0604020202020204" pitchFamily="34" charset="0"/>
                <a:cs typeface="Arial" panose="020B0604020202020204" pitchFamily="34" charset="0"/>
              </a:rPr>
            </a:br>
            <a:br>
              <a:rPr lang="en-US" altLang="en-US" sz="3110" u="sng">
                <a:solidFill>
                  <a:srgbClr val="00B0F0"/>
                </a:solidFill>
                <a:latin typeface="Arial" panose="020B0604020202020204" pitchFamily="34" charset="0"/>
                <a:cs typeface="Arial" panose="020B0604020202020204" pitchFamily="34" charset="0"/>
              </a:rPr>
            </a:br>
            <a:r>
              <a:rPr lang="tr-TR" altLang="en-US" sz="3110" u="sng">
                <a:solidFill>
                  <a:srgbClr val="FF0000"/>
                </a:solidFill>
                <a:latin typeface="Arial" panose="020B0604020202020204" pitchFamily="34" charset="0"/>
                <a:cs typeface="Arial" panose="020B0604020202020204" pitchFamily="34" charset="0"/>
              </a:rPr>
              <a:t>MALİ YAPI</a:t>
            </a:r>
            <a:endParaRPr lang="tr-TR" altLang="en-US" sz="3110" u="sng">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2004060"/>
            <a:ext cx="8621395" cy="4196715"/>
          </a:xfrm>
        </p:spPr>
        <p:txBody>
          <a:bodyPr>
            <a:normAutofit/>
          </a:bodyPr>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Peter Drucker /Yönetim Bilimci</a:t>
            </a:r>
            <a:endParaRPr lang="en-US" altLang="en-US">
              <a:latin typeface="Arial" panose="020B0604020202020204" pitchFamily="34" charset="0"/>
              <a:cs typeface="Arial" panose="020B0604020202020204" pitchFamily="34" charset="0"/>
            </a:endParaRPr>
          </a:p>
          <a:p>
            <a:pPr marL="0" indent="0">
              <a:buFont typeface="Wingdings" panose="05000000000000000000" charset="0"/>
              <a:buNone/>
            </a:pPr>
            <a:endParaRPr lang="en-US" altLang="en-US">
              <a:latin typeface="Arial" panose="020B0604020202020204" pitchFamily="34" charset="0"/>
              <a:cs typeface="Arial" panose="020B0604020202020204" pitchFamily="34" charset="0"/>
            </a:endParaRPr>
          </a:p>
          <a:p>
            <a:pPr marL="0" indent="0">
              <a:buFont typeface="Wingdings" panose="05000000000000000000" charset="0"/>
              <a:buNone/>
            </a:pPr>
            <a:r>
              <a:rPr lang="tr-TR" altLang="en-US">
                <a:latin typeface="Arial" panose="020B0604020202020204" pitchFamily="34" charset="0"/>
                <a:cs typeface="Arial" panose="020B0604020202020204" pitchFamily="34" charset="0"/>
              </a:rPr>
              <a:t>* </a:t>
            </a:r>
            <a:r>
              <a:rPr lang="tr-TR" altLang="en-US" b="1">
                <a:latin typeface="Arial" panose="020B0604020202020204" pitchFamily="34" charset="0"/>
                <a:cs typeface="Arial" panose="020B0604020202020204" pitchFamily="34" charset="0"/>
              </a:rPr>
              <a:t>Ölçemediğiniz şeyi yönetemezsiniz</a:t>
            </a:r>
            <a:endParaRPr lang="tr-TR" altLang="en-US" b="1">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fontScale="90000"/>
          </a:bodyPr>
          <a:p>
            <a:r>
              <a:rPr lang="en-US" altLang="en-US" sz="3110" u="sng">
                <a:solidFill>
                  <a:srgbClr val="00B0F0"/>
                </a:solidFill>
                <a:latin typeface="Arial" panose="020B0604020202020204" pitchFamily="34" charset="0"/>
                <a:cs typeface="Arial" panose="020B0604020202020204" pitchFamily="34" charset="0"/>
              </a:rPr>
              <a:t>ALINACAK AKS</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YONLAR:</a:t>
            </a:r>
            <a:br>
              <a:rPr lang="en-US" altLang="en-US" sz="3110" u="sng">
                <a:solidFill>
                  <a:srgbClr val="00B0F0"/>
                </a:solidFill>
                <a:latin typeface="Arial" panose="020B0604020202020204" pitchFamily="34" charset="0"/>
                <a:cs typeface="Arial" panose="020B0604020202020204" pitchFamily="34" charset="0"/>
              </a:rPr>
            </a:br>
            <a:br>
              <a:rPr lang="en-US" altLang="en-US" sz="3110" u="sng">
                <a:solidFill>
                  <a:srgbClr val="00B0F0"/>
                </a:solidFill>
                <a:latin typeface="Arial" panose="020B0604020202020204" pitchFamily="34" charset="0"/>
                <a:cs typeface="Arial" panose="020B0604020202020204" pitchFamily="34" charset="0"/>
              </a:rPr>
            </a:br>
            <a:r>
              <a:rPr lang="tr-TR" altLang="en-US" sz="3110" u="sng">
                <a:solidFill>
                  <a:srgbClr val="FF0000"/>
                </a:solidFill>
                <a:latin typeface="Arial" panose="020B0604020202020204" pitchFamily="34" charset="0"/>
                <a:cs typeface="Arial" panose="020B0604020202020204" pitchFamily="34" charset="0"/>
              </a:rPr>
              <a:t>MALİ YAPI</a:t>
            </a:r>
            <a:endParaRPr lang="tr-TR" altLang="en-US" sz="3110" u="sng">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2004060"/>
            <a:ext cx="8621395" cy="4196715"/>
          </a:xfrm>
        </p:spPr>
        <p:txBody>
          <a:bodyPr>
            <a:normAutofit/>
          </a:bodyPr>
          <a:p>
            <a:pPr>
              <a:buFont typeface="Wingdings" panose="05000000000000000000" charset="0"/>
              <a:buChar char="Ø"/>
            </a:pPr>
            <a:r>
              <a:rPr lang="en-US" altLang="en-US">
                <a:latin typeface="Arial" panose="020B0604020202020204" pitchFamily="34" charset="0"/>
                <a:cs typeface="Arial" panose="020B0604020202020204" pitchFamily="34" charset="0"/>
              </a:rPr>
              <a:t>Mali yap</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ya istikrar</a:t>
            </a:r>
            <a:r>
              <a:rPr lang="tr-TR" altLang="en-US">
                <a:latin typeface="Arial" panose="020B0604020202020204" pitchFamily="34" charset="0"/>
                <a:cs typeface="Arial" panose="020B0604020202020204" pitchFamily="34" charset="0"/>
              </a:rPr>
              <a:t> ve sağlıklı işleyiş</a:t>
            </a:r>
            <a:r>
              <a:rPr lang="en-US" altLang="en-US">
                <a:latin typeface="Arial" panose="020B0604020202020204" pitchFamily="34" charset="0"/>
                <a:cs typeface="Arial" panose="020B0604020202020204" pitchFamily="34" charset="0"/>
              </a:rPr>
              <a:t> kazand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lacak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Grup bünyesinde reel olmad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a hi</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bir dönemde zarar beyan edilmeyecek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irket itibar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ve karl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k istikrar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her dönemde muhafaza edilecek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endParaRPr lang="en-US" altLang="en-US">
              <a:latin typeface="Arial" panose="020B0604020202020204" pitchFamily="34" charset="0"/>
              <a:cs typeface="Arial" panose="020B0604020202020204" pitchFamily="34" charset="0"/>
            </a:endParaRPr>
          </a:p>
          <a:p>
            <a:pPr marL="0" indent="0">
              <a:buFont typeface="Wingdings" panose="05000000000000000000" charset="0"/>
              <a:buNone/>
            </a:pP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fontScale="90000"/>
          </a:bodyPr>
          <a:p>
            <a:r>
              <a:rPr lang="en-US" altLang="en-US" sz="3110" u="sng">
                <a:solidFill>
                  <a:srgbClr val="00B0F0"/>
                </a:solidFill>
                <a:latin typeface="Arial" panose="020B0604020202020204" pitchFamily="34" charset="0"/>
                <a:cs typeface="Arial" panose="020B0604020202020204" pitchFamily="34" charset="0"/>
              </a:rPr>
              <a:t>ALINACAK AKS</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YONLAR:</a:t>
            </a:r>
            <a:br>
              <a:rPr lang="en-US" altLang="en-US" sz="3110" u="sng">
                <a:solidFill>
                  <a:srgbClr val="00B0F0"/>
                </a:solidFill>
                <a:latin typeface="Arial" panose="020B0604020202020204" pitchFamily="34" charset="0"/>
                <a:cs typeface="Arial" panose="020B0604020202020204" pitchFamily="34" charset="0"/>
              </a:rPr>
            </a:br>
            <a:br>
              <a:rPr lang="en-US" altLang="en-US" sz="3110" u="sng">
                <a:solidFill>
                  <a:srgbClr val="00B0F0"/>
                </a:solidFill>
                <a:latin typeface="Arial" panose="020B0604020202020204" pitchFamily="34" charset="0"/>
                <a:cs typeface="Arial" panose="020B0604020202020204" pitchFamily="34" charset="0"/>
              </a:rPr>
            </a:br>
            <a:r>
              <a:rPr lang="tr-TR" altLang="en-US" sz="3110" u="sng">
                <a:solidFill>
                  <a:srgbClr val="FF0000"/>
                </a:solidFill>
                <a:latin typeface="Arial" panose="020B0604020202020204" pitchFamily="34" charset="0"/>
                <a:cs typeface="Arial" panose="020B0604020202020204" pitchFamily="34" charset="0"/>
              </a:rPr>
              <a:t>MALİ YAPI</a:t>
            </a:r>
            <a:endParaRPr lang="tr-TR" altLang="en-US" sz="3110" u="sng">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2004060"/>
            <a:ext cx="8621395" cy="4196715"/>
          </a:xfrm>
        </p:spPr>
        <p:txBody>
          <a:bodyPr>
            <a:normAutofit/>
          </a:bodyPr>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atin typeface="Arial" panose="020B0604020202020204" pitchFamily="34" charset="0"/>
                <a:cs typeface="Arial" panose="020B0604020202020204" pitchFamily="34" charset="0"/>
              </a:rPr>
              <a:t>İş bazında ve genel maliyet ölçümlemeleri yalacak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Birim ve personel maliyetleri ölçülerek takip edilecek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    Toplam maliyeler içindeki işgücü oranı,</a:t>
            </a:r>
            <a:endParaRPr lang="tr-TR" altLang="en-US">
              <a:latin typeface="Arial" panose="020B0604020202020204" pitchFamily="34" charset="0"/>
              <a:cs typeface="Arial" panose="020B0604020202020204" pitchFamily="34" charset="0"/>
            </a:endParaRPr>
          </a:p>
          <a:p>
            <a:pPr>
              <a:buFont typeface="Wingdings" panose="05000000000000000000" charset="0"/>
              <a:buChar char="Ø"/>
            </a:pPr>
            <a:r>
              <a:rPr lang="tr-TR" altLang="en-US">
                <a:latin typeface="Arial" panose="020B0604020202020204" pitchFamily="34" charset="0"/>
                <a:cs typeface="Arial" panose="020B0604020202020204" pitchFamily="34" charset="0"/>
              </a:rPr>
              <a:t>        Personel başına ciro / kar rakamları düzenli olarak raporlanacak(Güncel peronel/ciro rakamı yaklaşık 3 M TL)</a:t>
            </a:r>
            <a:endParaRPr lang="tr-TR" altLang="en-US">
              <a:latin typeface="Arial" panose="020B0604020202020204" pitchFamily="34" charset="0"/>
              <a:cs typeface="Arial" panose="020B0604020202020204" pitchFamily="34" charset="0"/>
            </a:endParaRPr>
          </a:p>
          <a:p>
            <a:pPr>
              <a:buFont typeface="Wingdings" panose="05000000000000000000" charset="0"/>
              <a:buChar char="Ø"/>
            </a:pPr>
            <a:r>
              <a:rPr lang="tr-TR" altLang="en-US">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Her bilan</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o dönemi öncesi mali yap</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konusunda isti</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are topant</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düzenlenecek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endParaRPr lang="en-US" altLang="en-US">
              <a:latin typeface="Arial" panose="020B0604020202020204" pitchFamily="34" charset="0"/>
              <a:cs typeface="Arial" panose="020B0604020202020204" pitchFamily="34" charset="0"/>
            </a:endParaRPr>
          </a:p>
          <a:p>
            <a:pPr marL="0" indent="0">
              <a:buFont typeface="Wingdings" panose="05000000000000000000" charset="0"/>
              <a:buNone/>
            </a:pP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fontScale="90000"/>
          </a:bodyPr>
          <a:p>
            <a:r>
              <a:rPr lang="en-US" altLang="en-US" sz="3110" u="sng">
                <a:solidFill>
                  <a:srgbClr val="00B0F0"/>
                </a:solidFill>
                <a:latin typeface="Arial" panose="020B0604020202020204" pitchFamily="34" charset="0"/>
                <a:cs typeface="Arial" panose="020B0604020202020204" pitchFamily="34" charset="0"/>
              </a:rPr>
              <a:t>ALINACAK AKS</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YONLAR:</a:t>
            </a:r>
            <a:br>
              <a:rPr lang="en-US" altLang="en-US" sz="3110" u="sng">
                <a:solidFill>
                  <a:srgbClr val="00B0F0"/>
                </a:solidFill>
                <a:latin typeface="Arial" panose="020B0604020202020204" pitchFamily="34" charset="0"/>
                <a:cs typeface="Arial" panose="020B0604020202020204" pitchFamily="34" charset="0"/>
              </a:rPr>
            </a:br>
            <a:br>
              <a:rPr lang="en-US" altLang="en-US" sz="3110" u="sng">
                <a:solidFill>
                  <a:srgbClr val="00B0F0"/>
                </a:solidFill>
                <a:latin typeface="Arial" panose="020B0604020202020204" pitchFamily="34" charset="0"/>
                <a:cs typeface="Arial" panose="020B0604020202020204" pitchFamily="34" charset="0"/>
              </a:rPr>
            </a:br>
            <a:r>
              <a:rPr lang="tr-TR" altLang="en-US" sz="3110" u="sng">
                <a:solidFill>
                  <a:srgbClr val="FF0000"/>
                </a:solidFill>
                <a:latin typeface="Arial" panose="020B0604020202020204" pitchFamily="34" charset="0"/>
                <a:cs typeface="Arial" panose="020B0604020202020204" pitchFamily="34" charset="0"/>
              </a:rPr>
              <a:t>KREDİBİLİTE</a:t>
            </a:r>
            <a:endParaRPr lang="tr-TR" altLang="en-US" sz="3110" u="sng">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685290"/>
            <a:ext cx="9359265" cy="4488815"/>
          </a:xfrm>
        </p:spPr>
        <p:txBody>
          <a:bodyPr>
            <a:normAutofit fontScale="40000"/>
          </a:bodyPr>
          <a:p>
            <a:pPr>
              <a:buFont typeface="Wingdings" panose="05000000000000000000" charset="0"/>
              <a:buChar char="Ø"/>
            </a:pPr>
            <a:r>
              <a:rPr lang="en-US" altLang="en-US" sz="4800">
                <a:latin typeface="Arial" panose="020B0604020202020204" pitchFamily="34" charset="0"/>
                <a:cs typeface="Arial" panose="020B0604020202020204" pitchFamily="34" charset="0"/>
              </a:rPr>
              <a:t>Bankalardaki </a:t>
            </a:r>
            <a:r>
              <a:rPr lang="en-US" altLang="en-US" sz="4800">
                <a:latin typeface="Arial" panose="020B0604020202020204" pitchFamily="34" charset="0"/>
                <a:cs typeface="Arial" panose="020B0604020202020204" pitchFamily="34" charset="0"/>
              </a:rPr>
              <a:t>ç</a:t>
            </a:r>
            <a:r>
              <a:rPr lang="en-US" altLang="en-US" sz="4800">
                <a:latin typeface="Arial" panose="020B0604020202020204" pitchFamily="34" charset="0"/>
                <a:cs typeface="Arial" panose="020B0604020202020204" pitchFamily="34" charset="0"/>
              </a:rPr>
              <a:t>e</a:t>
            </a:r>
            <a:r>
              <a:rPr lang="en-US" altLang="en-US" sz="4800">
                <a:latin typeface="Arial" panose="020B0604020202020204" pitchFamily="34" charset="0"/>
                <a:cs typeface="Arial" panose="020B0604020202020204" pitchFamily="34" charset="0"/>
              </a:rPr>
              <a:t>ş</a:t>
            </a:r>
            <a:r>
              <a:rPr lang="en-US" altLang="en-US" sz="4800">
                <a:latin typeface="Arial" panose="020B0604020202020204" pitchFamily="34" charset="0"/>
                <a:cs typeface="Arial" panose="020B0604020202020204" pitchFamily="34" charset="0"/>
              </a:rPr>
              <a:t>itlilik art</a:t>
            </a:r>
            <a:r>
              <a:rPr lang="en-US" altLang="en-US" sz="4800">
                <a:latin typeface="Arial" panose="020B0604020202020204" pitchFamily="34" charset="0"/>
                <a:cs typeface="Arial" panose="020B0604020202020204" pitchFamily="34" charset="0"/>
              </a:rPr>
              <a:t>ı</a:t>
            </a:r>
            <a:r>
              <a:rPr lang="en-US" altLang="en-US" sz="4800">
                <a:latin typeface="Arial" panose="020B0604020202020204" pitchFamily="34" charset="0"/>
                <a:cs typeface="Arial" panose="020B0604020202020204" pitchFamily="34" charset="0"/>
              </a:rPr>
              <a:t>r</a:t>
            </a:r>
            <a:r>
              <a:rPr lang="en-US" altLang="en-US" sz="4800">
                <a:latin typeface="Arial" panose="020B0604020202020204" pitchFamily="34" charset="0"/>
                <a:cs typeface="Arial" panose="020B0604020202020204" pitchFamily="34" charset="0"/>
              </a:rPr>
              <a:t>ı</a:t>
            </a:r>
            <a:r>
              <a:rPr lang="en-US" altLang="en-US" sz="4800">
                <a:latin typeface="Arial" panose="020B0604020202020204" pitchFamily="34" charset="0"/>
                <a:cs typeface="Arial" panose="020B0604020202020204" pitchFamily="34" charset="0"/>
              </a:rPr>
              <a:t>larak her daim kredibl bir yap</a:t>
            </a:r>
            <a:r>
              <a:rPr lang="en-US" altLang="en-US" sz="4800">
                <a:latin typeface="Arial" panose="020B0604020202020204" pitchFamily="34" charset="0"/>
                <a:cs typeface="Arial" panose="020B0604020202020204" pitchFamily="34" charset="0"/>
              </a:rPr>
              <a:t>ı</a:t>
            </a:r>
            <a:r>
              <a:rPr lang="en-US" altLang="en-US" sz="4800">
                <a:latin typeface="Arial" panose="020B0604020202020204" pitchFamily="34" charset="0"/>
                <a:cs typeface="Arial" panose="020B0604020202020204" pitchFamily="34" charset="0"/>
              </a:rPr>
              <a:t> olu</a:t>
            </a:r>
            <a:r>
              <a:rPr lang="en-US" altLang="en-US" sz="4800">
                <a:latin typeface="Arial" panose="020B0604020202020204" pitchFamily="34" charset="0"/>
                <a:cs typeface="Arial" panose="020B0604020202020204" pitchFamily="34" charset="0"/>
              </a:rPr>
              <a:t>ş</a:t>
            </a:r>
            <a:r>
              <a:rPr lang="en-US" altLang="en-US" sz="4800">
                <a:latin typeface="Arial" panose="020B0604020202020204" pitchFamily="34" charset="0"/>
                <a:cs typeface="Arial" panose="020B0604020202020204" pitchFamily="34" charset="0"/>
              </a:rPr>
              <a:t>turulacak</a:t>
            </a:r>
            <a:endParaRPr lang="en-US" altLang="en-US" sz="4800">
              <a:latin typeface="Arial" panose="020B0604020202020204" pitchFamily="34" charset="0"/>
              <a:cs typeface="Arial" panose="020B0604020202020204" pitchFamily="34" charset="0"/>
            </a:endParaRPr>
          </a:p>
          <a:p>
            <a:pPr>
              <a:buFont typeface="Wingdings" panose="05000000000000000000" charset="0"/>
              <a:buChar char="Ø"/>
            </a:pPr>
            <a:r>
              <a:rPr lang="en-US" altLang="en-US" sz="4800">
                <a:latin typeface="Arial" panose="020B0604020202020204" pitchFamily="34" charset="0"/>
                <a:cs typeface="Arial" panose="020B0604020202020204" pitchFamily="34" charset="0"/>
              </a:rPr>
              <a:t></a:t>
            </a:r>
            <a:r>
              <a:rPr lang="tr-TR" altLang="en-US" sz="4800">
                <a:latin typeface="Arial" panose="020B0604020202020204" pitchFamily="34" charset="0"/>
                <a:cs typeface="Arial" panose="020B0604020202020204" pitchFamily="34" charset="0"/>
              </a:rPr>
              <a:t> Çalışılan banka sayısı ve kredi limitleri artırılacak </a:t>
            </a:r>
            <a:endParaRPr lang="tr-TR" altLang="en-US" sz="4800">
              <a:latin typeface="Arial" panose="020B0604020202020204" pitchFamily="34" charset="0"/>
              <a:cs typeface="Arial" panose="020B0604020202020204" pitchFamily="34" charset="0"/>
            </a:endParaRPr>
          </a:p>
          <a:p>
            <a:pPr>
              <a:buFont typeface="Wingdings" panose="05000000000000000000" charset="0"/>
              <a:buChar char="Ø"/>
            </a:pPr>
            <a:r>
              <a:rPr lang="tr-TR" altLang="en-US" sz="4800">
                <a:latin typeface="Arial" panose="020B0604020202020204" pitchFamily="34" charset="0"/>
                <a:cs typeface="Arial" panose="020B0604020202020204" pitchFamily="34" charset="0"/>
              </a:rPr>
              <a:t>      Bankalara yönelik bilgilendirme ve sunum dosyası hazırlanacak</a:t>
            </a:r>
            <a:endParaRPr lang="tr-TR" altLang="en-US" sz="4800">
              <a:latin typeface="Arial" panose="020B0604020202020204" pitchFamily="34" charset="0"/>
              <a:cs typeface="Arial" panose="020B0604020202020204" pitchFamily="34" charset="0"/>
            </a:endParaRPr>
          </a:p>
          <a:p>
            <a:pPr>
              <a:buFont typeface="Wingdings" panose="05000000000000000000" charset="0"/>
              <a:buChar char="Ø"/>
            </a:pPr>
            <a:r>
              <a:rPr lang="en-US" altLang="en-US" sz="4800">
                <a:latin typeface="Arial" panose="020B0604020202020204" pitchFamily="34" charset="0"/>
                <a:cs typeface="Arial" panose="020B0604020202020204" pitchFamily="34" charset="0"/>
              </a:rPr>
              <a:t></a:t>
            </a:r>
            <a:r>
              <a:rPr lang="tr-TR" altLang="en-US" sz="4800">
                <a:latin typeface="Arial" panose="020B0604020202020204" pitchFamily="34" charset="0"/>
                <a:cs typeface="Arial" panose="020B0604020202020204" pitchFamily="34" charset="0"/>
              </a:rPr>
              <a:t>  </a:t>
            </a:r>
            <a:r>
              <a:rPr lang="en-US" altLang="en-US" sz="4800">
                <a:latin typeface="Arial" panose="020B0604020202020204" pitchFamily="34" charset="0"/>
                <a:cs typeface="Arial" panose="020B0604020202020204" pitchFamily="34" charset="0"/>
              </a:rPr>
              <a:t>Bankalarla ili</a:t>
            </a:r>
            <a:r>
              <a:rPr lang="en-US" altLang="en-US" sz="4800">
                <a:latin typeface="Arial" panose="020B0604020202020204" pitchFamily="34" charset="0"/>
                <a:cs typeface="Arial" panose="020B0604020202020204" pitchFamily="34" charset="0"/>
              </a:rPr>
              <a:t>ş</a:t>
            </a:r>
            <a:r>
              <a:rPr lang="en-US" altLang="en-US" sz="4800">
                <a:latin typeface="Arial" panose="020B0604020202020204" pitchFamily="34" charset="0"/>
                <a:cs typeface="Arial" panose="020B0604020202020204" pitchFamily="34" charset="0"/>
              </a:rPr>
              <a:t>kiler konusunda proaktif yakla</a:t>
            </a:r>
            <a:r>
              <a:rPr lang="en-US" altLang="en-US" sz="4800">
                <a:latin typeface="Arial" panose="020B0604020202020204" pitchFamily="34" charset="0"/>
                <a:cs typeface="Arial" panose="020B0604020202020204" pitchFamily="34" charset="0"/>
              </a:rPr>
              <a:t>şı</a:t>
            </a:r>
            <a:r>
              <a:rPr lang="en-US" altLang="en-US" sz="4800">
                <a:latin typeface="Arial" panose="020B0604020202020204" pitchFamily="34" charset="0"/>
                <a:cs typeface="Arial" panose="020B0604020202020204" pitchFamily="34" charset="0"/>
              </a:rPr>
              <a:t>ma ge</a:t>
            </a:r>
            <a:r>
              <a:rPr lang="en-US" altLang="en-US" sz="4800">
                <a:latin typeface="Arial" panose="020B0604020202020204" pitchFamily="34" charset="0"/>
                <a:cs typeface="Arial" panose="020B0604020202020204" pitchFamily="34" charset="0"/>
              </a:rPr>
              <a:t>ç</a:t>
            </a:r>
            <a:r>
              <a:rPr lang="en-US" altLang="en-US" sz="4800">
                <a:latin typeface="Arial" panose="020B0604020202020204" pitchFamily="34" charset="0"/>
                <a:cs typeface="Arial" panose="020B0604020202020204" pitchFamily="34" charset="0"/>
              </a:rPr>
              <a:t>ilecek. </a:t>
            </a:r>
            <a:endParaRPr lang="en-US" altLang="en-US" sz="4800">
              <a:latin typeface="Arial" panose="020B0604020202020204" pitchFamily="34" charset="0"/>
              <a:cs typeface="Arial" panose="020B0604020202020204" pitchFamily="34" charset="0"/>
            </a:endParaRPr>
          </a:p>
          <a:p>
            <a:pPr>
              <a:buFont typeface="Wingdings" panose="05000000000000000000" charset="0"/>
              <a:buChar char="Ø"/>
            </a:pPr>
            <a:r>
              <a:rPr lang="en-US" altLang="en-US" sz="4800">
                <a:latin typeface="Arial" panose="020B0604020202020204" pitchFamily="34" charset="0"/>
                <a:cs typeface="Arial" panose="020B0604020202020204" pitchFamily="34" charset="0"/>
              </a:rPr>
              <a:t></a:t>
            </a:r>
            <a:r>
              <a:rPr lang="tr-TR" altLang="en-US" sz="4800">
                <a:latin typeface="Arial" panose="020B0604020202020204" pitchFamily="34" charset="0"/>
                <a:cs typeface="Arial" panose="020B0604020202020204" pitchFamily="34" charset="0"/>
              </a:rPr>
              <a:t>   </a:t>
            </a:r>
            <a:r>
              <a:rPr lang="tr-TR" sz="4800">
                <a:latin typeface="Arial" panose="020B0604020202020204" pitchFamily="34" charset="0"/>
                <a:cs typeface="Arial" panose="020B0604020202020204" pitchFamily="34" charset="0"/>
              </a:rPr>
              <a:t>Firma---&gt;Müşteri Temsilcisi---&gt;Şube Müdürü---&gt;</a:t>
            </a:r>
            <a:endParaRPr lang="tr-TR" sz="4800">
              <a:latin typeface="Arial" panose="020B0604020202020204" pitchFamily="34" charset="0"/>
              <a:cs typeface="Arial" panose="020B0604020202020204" pitchFamily="34" charset="0"/>
            </a:endParaRPr>
          </a:p>
          <a:p>
            <a:pPr marL="0" indent="0">
              <a:buFont typeface="Wingdings" panose="05000000000000000000" charset="0"/>
              <a:buNone/>
            </a:pPr>
            <a:r>
              <a:rPr lang="tr-TR" altLang="en-US" sz="4800">
                <a:latin typeface="Arial" panose="020B0604020202020204" pitchFamily="34" charset="0"/>
                <a:cs typeface="Arial" panose="020B0604020202020204" pitchFamily="34" charset="0"/>
              </a:rPr>
              <a:t>rating birimi---&gt;Kredi kontrol---&gt;Kredi yetkilisi(Tahsis) sürecinde ara istasyonlar aşılacak </a:t>
            </a:r>
            <a:endParaRPr lang="tr-TR" altLang="en-US" sz="4800">
              <a:latin typeface="Arial" panose="020B0604020202020204" pitchFamily="34" charset="0"/>
              <a:cs typeface="Arial" panose="020B0604020202020204" pitchFamily="34" charset="0"/>
            </a:endParaRPr>
          </a:p>
          <a:p>
            <a:pPr>
              <a:buFont typeface="Wingdings" panose="05000000000000000000" charset="0"/>
              <a:buChar char="Ø"/>
            </a:pPr>
            <a:r>
              <a:rPr lang="tr-TR" altLang="en-US" sz="4800">
                <a:latin typeface="Arial" panose="020B0604020202020204" pitchFamily="34" charset="0"/>
                <a:cs typeface="Arial" panose="020B0604020202020204" pitchFamily="34" charset="0"/>
              </a:rPr>
              <a:t>     Yıl içerisinde çalışılan banka sayısı 10-12, toplam limitin 100 M TL’ye çıkarılması hedeflenecek </a:t>
            </a:r>
            <a:endParaRPr lang="tr-TR" altLang="en-US" sz="4800">
              <a:latin typeface="Arial" panose="020B0604020202020204" pitchFamily="34" charset="0"/>
              <a:cs typeface="Arial" panose="020B0604020202020204" pitchFamily="34" charset="0"/>
            </a:endParaRPr>
          </a:p>
          <a:p>
            <a:pPr marL="0" indent="0">
              <a:buFont typeface="Wingdings" panose="05000000000000000000" charset="0"/>
              <a:buNone/>
            </a:pPr>
            <a:endParaRPr lang="tr-TR" altLang="en-US" sz="4800">
              <a:latin typeface="Arial" panose="020B0604020202020204" pitchFamily="34" charset="0"/>
              <a:cs typeface="Arial" panose="020B0604020202020204" pitchFamily="34" charset="0"/>
            </a:endParaRPr>
          </a:p>
          <a:p>
            <a:pPr marL="0" indent="0">
              <a:buFont typeface="Wingdings" panose="05000000000000000000" charset="0"/>
              <a:buNone/>
            </a:pPr>
            <a:r>
              <a:rPr lang="tr-TR" altLang="en-US" sz="4800">
                <a:latin typeface="Arial" panose="020B0604020202020204" pitchFamily="34" charset="0"/>
                <a:cs typeface="Arial" panose="020B0604020202020204" pitchFamily="34" charset="0"/>
                <a:sym typeface="+mn-ea"/>
              </a:rPr>
              <a:t>*Ziraat Katılım, Türkiye Finans, Hayat Finans ile ilk temas kuruldu </a:t>
            </a:r>
            <a:endParaRPr lang="tr-TR" altLang="en-US" sz="4800">
              <a:latin typeface="Arial" panose="020B0604020202020204" pitchFamily="34" charset="0"/>
              <a:cs typeface="Arial" panose="020B0604020202020204" pitchFamily="34" charset="0"/>
            </a:endParaRPr>
          </a:p>
          <a:p>
            <a:pPr marL="0" indent="0">
              <a:buFont typeface="Wingdings" panose="05000000000000000000" charset="0"/>
              <a:buNone/>
            </a:pPr>
            <a:r>
              <a:rPr lang="tr-TR" altLang="en-US">
                <a:latin typeface="Arial" panose="020B0604020202020204" pitchFamily="34" charset="0"/>
                <a:cs typeface="Arial" panose="020B0604020202020204" pitchFamily="34" charset="0"/>
              </a:rPr>
              <a:t> </a:t>
            </a:r>
            <a:endParaRPr lang="en-US" altLang="en-US">
              <a:latin typeface="Arial" panose="020B0604020202020204" pitchFamily="34" charset="0"/>
              <a:cs typeface="Arial" panose="020B0604020202020204" pitchFamily="34" charset="0"/>
            </a:endParaRPr>
          </a:p>
          <a:p>
            <a:pPr marL="0" indent="0">
              <a:buFont typeface="Wingdings" panose="05000000000000000000" charset="0"/>
              <a:buNone/>
            </a:pP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fontScale="90000"/>
          </a:bodyPr>
          <a:p>
            <a:r>
              <a:rPr lang="en-US" altLang="en-US" sz="3110" u="sng">
                <a:solidFill>
                  <a:srgbClr val="00B0F0"/>
                </a:solidFill>
                <a:latin typeface="Arial" panose="020B0604020202020204" pitchFamily="34" charset="0"/>
                <a:cs typeface="Arial" panose="020B0604020202020204" pitchFamily="34" charset="0"/>
              </a:rPr>
              <a:t>ALINACAK AKSİYONLAR:</a:t>
            </a:r>
            <a:br>
              <a:rPr lang="en-US" altLang="en-US" sz="3110" u="sng">
                <a:solidFill>
                  <a:srgbClr val="00B0F0"/>
                </a:solidFill>
                <a:latin typeface="Arial" panose="020B0604020202020204" pitchFamily="34" charset="0"/>
                <a:cs typeface="Arial" panose="020B0604020202020204" pitchFamily="34" charset="0"/>
              </a:rPr>
            </a:br>
            <a:br>
              <a:rPr lang="en-US" altLang="en-US" sz="3110" u="sng">
                <a:solidFill>
                  <a:srgbClr val="00B0F0"/>
                </a:solidFill>
                <a:latin typeface="Arial" panose="020B0604020202020204" pitchFamily="34" charset="0"/>
                <a:cs typeface="Arial" panose="020B0604020202020204" pitchFamily="34" charset="0"/>
              </a:rPr>
            </a:br>
            <a:r>
              <a:rPr lang="tr-TR" altLang="en-US" sz="3110" u="sng">
                <a:solidFill>
                  <a:srgbClr val="FF0000"/>
                </a:solidFill>
                <a:latin typeface="Arial" panose="020B0604020202020204" pitchFamily="34" charset="0"/>
                <a:cs typeface="Arial" panose="020B0604020202020204" pitchFamily="34" charset="0"/>
              </a:rPr>
              <a:t>ÖZKAYNAKLAR</a:t>
            </a:r>
            <a:endParaRPr lang="tr-TR" altLang="en-US" sz="3110" u="sng">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2004060"/>
            <a:ext cx="8621395" cy="4196715"/>
          </a:xfrm>
        </p:spPr>
        <p:txBody>
          <a:bodyPr>
            <a:normAutofit lnSpcReduction="10000"/>
          </a:bodyPr>
          <a:p>
            <a:pPr>
              <a:buFont typeface="Wingdings" panose="05000000000000000000" charset="0"/>
              <a:buChar char="Ø"/>
            </a:pPr>
            <a:r>
              <a:rPr lang="en-US" altLang="en-US">
                <a:latin typeface="Arial" panose="020B0604020202020204" pitchFamily="34" charset="0"/>
                <a:cs typeface="Arial" panose="020B0604020202020204" pitchFamily="34" charset="0"/>
              </a:rPr>
              <a:t>Sermaye art</a:t>
            </a:r>
            <a:r>
              <a:rPr lang="en-US" altLang="en-US">
                <a:latin typeface="Arial" panose="020B0604020202020204" pitchFamily="34" charset="0"/>
                <a:cs typeface="Arial" panose="020B0604020202020204" pitchFamily="34" charset="0"/>
              </a:rPr>
              <a:t>ış</a:t>
            </a:r>
            <a:r>
              <a:rPr lang="en-US" altLang="en-US">
                <a:latin typeface="Arial" panose="020B0604020202020204" pitchFamily="34" charset="0"/>
                <a:cs typeface="Arial" panose="020B0604020202020204" pitchFamily="34" charset="0"/>
              </a:rPr>
              <a:t>lar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ile gü</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lü özkaynak yap</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bilan</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o yap</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 da kazand</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lacak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irket ve ortak aras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ndaki fon transferi maksimum fayda perspektifinde dizayn edilecek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    Şirketin yanısıra ortakların da mali açıdan güçlenmesine olanak sağlanacak. Bu kapsamda bölüşüm (1/3-2/3 olarak dizayn edilmesi) görüşülecek     </a:t>
            </a:r>
            <a:endParaRPr lang="tr-TR" altLang="en-US">
              <a:latin typeface="Arial" panose="020B0604020202020204" pitchFamily="34" charset="0"/>
              <a:cs typeface="Arial" panose="020B0604020202020204" pitchFamily="34" charset="0"/>
            </a:endParaRPr>
          </a:p>
          <a:p>
            <a:pPr>
              <a:buFont typeface="Wingdings" panose="05000000000000000000" charset="0"/>
              <a:buChar char="Ø"/>
            </a:pPr>
            <a:r>
              <a:rPr lang="tr-TR" altLang="en-US">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   Özkaynakları güçlendirmeye yönelik kaydi adımlar değerlendirilecek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endParaRPr lang="en-US" altLang="en-US">
              <a:latin typeface="Arial" panose="020B0604020202020204" pitchFamily="34" charset="0"/>
              <a:cs typeface="Arial" panose="020B0604020202020204" pitchFamily="34" charset="0"/>
            </a:endParaRPr>
          </a:p>
          <a:p>
            <a:pPr marL="0" indent="0">
              <a:buFont typeface="Wingdings" panose="05000000000000000000" charset="0"/>
              <a:buNone/>
            </a:pP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fontScale="90000"/>
          </a:bodyPr>
          <a:p>
            <a:r>
              <a:rPr lang="en-US" altLang="en-US" sz="3110" u="sng">
                <a:solidFill>
                  <a:srgbClr val="00B0F0"/>
                </a:solidFill>
                <a:latin typeface="Arial" panose="020B0604020202020204" pitchFamily="34" charset="0"/>
                <a:cs typeface="Arial" panose="020B0604020202020204" pitchFamily="34" charset="0"/>
              </a:rPr>
              <a:t>ALINACAK AKS</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YONLAR:</a:t>
            </a:r>
            <a:br>
              <a:rPr lang="en-US" altLang="en-US" sz="3110" u="sng">
                <a:solidFill>
                  <a:srgbClr val="00B0F0"/>
                </a:solidFill>
                <a:latin typeface="Arial" panose="020B0604020202020204" pitchFamily="34" charset="0"/>
                <a:cs typeface="Arial" panose="020B0604020202020204" pitchFamily="34" charset="0"/>
              </a:rPr>
            </a:br>
            <a:br>
              <a:rPr lang="en-US" altLang="en-US" sz="3110" u="sng">
                <a:solidFill>
                  <a:srgbClr val="00B0F0"/>
                </a:solidFill>
                <a:latin typeface="Arial" panose="020B0604020202020204" pitchFamily="34" charset="0"/>
                <a:cs typeface="Arial" panose="020B0604020202020204" pitchFamily="34" charset="0"/>
              </a:rPr>
            </a:br>
            <a:endParaRPr lang="tr-TR" altLang="en-US" sz="3110" u="sng">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163955"/>
            <a:ext cx="8621395" cy="5036820"/>
          </a:xfrm>
        </p:spPr>
        <p:txBody>
          <a:bodyPr>
            <a:normAutofit/>
          </a:bodyPr>
          <a:p>
            <a:pPr>
              <a:buFont typeface="Wingdings" panose="05000000000000000000" charset="0"/>
              <a:buChar char="Ø"/>
            </a:pPr>
            <a:r>
              <a:rPr lang="en-US" altLang="en-US">
                <a:latin typeface="Arial" panose="020B0604020202020204" pitchFamily="34" charset="0"/>
                <a:cs typeface="Arial" panose="020B0604020202020204" pitchFamily="34" charset="0"/>
              </a:rPr>
              <a:t>Sektörel hedge’in yan</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nda firma faaliyetlerine ba</a:t>
            </a:r>
            <a:r>
              <a:rPr lang="en-US" altLang="en-US">
                <a:latin typeface="Arial" panose="020B0604020202020204" pitchFamily="34" charset="0"/>
                <a:cs typeface="Arial" panose="020B0604020202020204" pitchFamily="34" charset="0"/>
              </a:rPr>
              <a:t>ğ</a:t>
            </a:r>
            <a:r>
              <a:rPr lang="en-US" altLang="en-US">
                <a:latin typeface="Arial" panose="020B0604020202020204" pitchFamily="34" charset="0"/>
                <a:cs typeface="Arial" panose="020B0604020202020204" pitchFamily="34" charset="0"/>
              </a:rPr>
              <a:t>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 unsurlar da hedge edilecek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Ana harcama kalemleri i</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in hedge pozisyonlar a</a:t>
            </a:r>
            <a:r>
              <a:rPr lang="en-US" altLang="en-US">
                <a:latin typeface="Arial" panose="020B0604020202020204" pitchFamily="34" charset="0"/>
                <a:cs typeface="Arial" panose="020B0604020202020204" pitchFamily="34" charset="0"/>
              </a:rPr>
              <a:t>çı</a:t>
            </a:r>
            <a:r>
              <a:rPr lang="en-US" altLang="en-US">
                <a:latin typeface="Arial" panose="020B0604020202020204" pitchFamily="34" charset="0"/>
                <a:cs typeface="Arial" panose="020B0604020202020204" pitchFamily="34" charset="0"/>
              </a:rPr>
              <a:t>lacak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Finansal gelirin art</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rlmas</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na yönelik pozisyon </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itlendirilmesine gidilecek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Sektörel ve ekonomik toparlanma ba</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layana dek karl</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l</a:t>
            </a:r>
            <a:r>
              <a:rPr lang="en-US" altLang="en-US">
                <a:latin typeface="Arial" panose="020B0604020202020204" pitchFamily="34" charset="0"/>
                <a:cs typeface="Arial" panose="020B0604020202020204" pitchFamily="34" charset="0"/>
              </a:rPr>
              <a:t>ığı</a:t>
            </a:r>
            <a:r>
              <a:rPr lang="en-US" altLang="en-US">
                <a:latin typeface="Arial" panose="020B0604020202020204" pitchFamily="34" charset="0"/>
                <a:cs typeface="Arial" panose="020B0604020202020204" pitchFamily="34" charset="0"/>
              </a:rPr>
              <a:t> korumak öncelik olacak.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Olu</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acak f</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rsatlardan yararlanmak amac</a:t>
            </a:r>
            <a:r>
              <a:rPr lang="en-US" altLang="en-US">
                <a:latin typeface="Arial" panose="020B0604020202020204" pitchFamily="34" charset="0"/>
                <a:cs typeface="Arial" panose="020B0604020202020204" pitchFamily="34" charset="0"/>
              </a:rPr>
              <a:t>ı</a:t>
            </a:r>
            <a:r>
              <a:rPr lang="en-US" altLang="en-US">
                <a:latin typeface="Arial" panose="020B0604020202020204" pitchFamily="34" charset="0"/>
                <a:cs typeface="Arial" panose="020B0604020202020204" pitchFamily="34" charset="0"/>
              </a:rPr>
              <a:t>yla hem likidite </a:t>
            </a:r>
            <a:r>
              <a:rPr lang="tr-TR" altLang="en-US">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korunacak hem de likidite pozisyonu </a:t>
            </a:r>
            <a:r>
              <a:rPr lang="en-US" altLang="en-US">
                <a:latin typeface="Arial" panose="020B0604020202020204" pitchFamily="34" charset="0"/>
                <a:cs typeface="Arial" panose="020B0604020202020204" pitchFamily="34" charset="0"/>
              </a:rPr>
              <a:t>ç</a:t>
            </a:r>
            <a:r>
              <a:rPr lang="en-US" altLang="en-US">
                <a:latin typeface="Arial" panose="020B0604020202020204" pitchFamily="34" charset="0"/>
                <a:cs typeface="Arial" panose="020B0604020202020204" pitchFamily="34" charset="0"/>
              </a:rPr>
              <a:t>e</a:t>
            </a:r>
            <a:r>
              <a:rPr lang="en-US" altLang="en-US">
                <a:latin typeface="Arial" panose="020B0604020202020204" pitchFamily="34" charset="0"/>
                <a:cs typeface="Arial" panose="020B0604020202020204" pitchFamily="34" charset="0"/>
              </a:rPr>
              <a:t>ş</a:t>
            </a:r>
            <a:r>
              <a:rPr lang="en-US" altLang="en-US">
                <a:latin typeface="Arial" panose="020B0604020202020204" pitchFamily="34" charset="0"/>
                <a:cs typeface="Arial" panose="020B0604020202020204" pitchFamily="34" charset="0"/>
              </a:rPr>
              <a:t>itlendirilecek</a:t>
            </a:r>
            <a:endParaRPr lang="tr-TR" altLang="en-US">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65150" y="196215"/>
            <a:ext cx="7335520" cy="631190"/>
          </a:xfrm>
        </p:spPr>
        <p:txBody>
          <a:bodyPr>
            <a:normAutofit fontScale="90000"/>
          </a:bodyPr>
          <a:p>
            <a:r>
              <a:rPr lang="en-US" altLang="en-US" sz="3110" u="sng">
                <a:solidFill>
                  <a:srgbClr val="00B0F0"/>
                </a:solidFill>
                <a:latin typeface="Arial" panose="020B0604020202020204" pitchFamily="34" charset="0"/>
                <a:cs typeface="Arial" panose="020B0604020202020204" pitchFamily="34" charset="0"/>
              </a:rPr>
              <a:t>ALINACAK AKS</a:t>
            </a:r>
            <a:r>
              <a:rPr lang="en-US" altLang="en-US" sz="3110" u="sng">
                <a:solidFill>
                  <a:srgbClr val="00B0F0"/>
                </a:solidFill>
                <a:latin typeface="Arial" panose="020B0604020202020204" pitchFamily="34" charset="0"/>
                <a:cs typeface="Arial" panose="020B0604020202020204" pitchFamily="34" charset="0"/>
              </a:rPr>
              <a:t>İ</a:t>
            </a:r>
            <a:r>
              <a:rPr lang="en-US" altLang="en-US" sz="3110" u="sng">
                <a:solidFill>
                  <a:srgbClr val="00B0F0"/>
                </a:solidFill>
                <a:latin typeface="Arial" panose="020B0604020202020204" pitchFamily="34" charset="0"/>
                <a:cs typeface="Arial" panose="020B0604020202020204" pitchFamily="34" charset="0"/>
              </a:rPr>
              <a:t>YONLAR:</a:t>
            </a:r>
            <a:br>
              <a:rPr lang="en-US" altLang="en-US" sz="3110" u="sng">
                <a:solidFill>
                  <a:srgbClr val="00B0F0"/>
                </a:solidFill>
                <a:latin typeface="Arial" panose="020B0604020202020204" pitchFamily="34" charset="0"/>
                <a:cs typeface="Arial" panose="020B0604020202020204" pitchFamily="34" charset="0"/>
              </a:rPr>
            </a:br>
            <a:br>
              <a:rPr lang="en-US" altLang="en-US" sz="3110" u="sng">
                <a:solidFill>
                  <a:srgbClr val="00B0F0"/>
                </a:solidFill>
                <a:latin typeface="Arial" panose="020B0604020202020204" pitchFamily="34" charset="0"/>
                <a:cs typeface="Arial" panose="020B0604020202020204" pitchFamily="34" charset="0"/>
              </a:rPr>
            </a:br>
            <a:endParaRPr lang="tr-TR" altLang="en-US" sz="3110" u="sng">
              <a:solidFill>
                <a:srgbClr val="FF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65150" y="1163955"/>
            <a:ext cx="8621395" cy="5036820"/>
          </a:xfrm>
        </p:spPr>
        <p:txBody>
          <a:bodyPr>
            <a:normAutofit/>
          </a:bodyPr>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Maliyetler çok sıkı takip edilecek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Personel sayısını artırmamak ana strateji olacak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Büyüme değil korunma odaklı strateji öncelik olacak</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tLang="en-US">
                <a:latin typeface="Arial" panose="020B0604020202020204" pitchFamily="34" charset="0"/>
                <a:cs typeface="Arial" panose="020B0604020202020204" pitchFamily="34" charset="0"/>
              </a:rPr>
              <a:t>Yabancı kaynak kullanımı öncelik olacak</a:t>
            </a:r>
            <a:r>
              <a:rPr lang="en-US" altLang="en-US">
                <a:latin typeface="Arial" panose="020B0604020202020204" pitchFamily="34" charset="0"/>
                <a:cs typeface="Arial" panose="020B0604020202020204" pitchFamily="34" charset="0"/>
              </a:rPr>
              <a:t> </a:t>
            </a:r>
            <a:endParaRPr lang="en-US" altLang="en-US">
              <a:latin typeface="Arial" panose="020B0604020202020204" pitchFamily="34" charset="0"/>
              <a:cs typeface="Arial" panose="020B0604020202020204" pitchFamily="34" charset="0"/>
            </a:endParaRPr>
          </a:p>
          <a:p>
            <a:pPr>
              <a:buFont typeface="Wingdings" panose="05000000000000000000" charset="0"/>
              <a:buChar char="Ø"/>
            </a:pPr>
            <a:r>
              <a:rPr lang="en-US" altLang="en-US">
                <a:latin typeface="Arial" panose="020B0604020202020204" pitchFamily="34" charset="0"/>
                <a:cs typeface="Arial" panose="020B0604020202020204" pitchFamily="34" charset="0"/>
              </a:rPr>
              <a:t></a:t>
            </a:r>
            <a:r>
              <a:rPr lang="tr-TR">
                <a:latin typeface="Arial" panose="020B0604020202020204" pitchFamily="34" charset="0"/>
                <a:cs typeface="Arial" panose="020B0604020202020204" pitchFamily="34" charset="0"/>
              </a:rPr>
              <a:t>Personel verimliliğini artırmaya yönelik çalışmalar yapılacak</a:t>
            </a:r>
            <a:endParaRPr lang="tr-TR">
              <a:latin typeface="Arial" panose="020B0604020202020204" pitchFamily="34" charset="0"/>
              <a:cs typeface="Arial" panose="020B0604020202020204" pitchFamily="34" charset="0"/>
            </a:endParaRPr>
          </a:p>
          <a:p>
            <a:pPr>
              <a:buFont typeface="Wingdings" panose="05000000000000000000" charset="0"/>
              <a:buChar char="Ø"/>
            </a:pPr>
            <a:r>
              <a:rPr lang="tr-TR">
                <a:latin typeface="Arial" panose="020B0604020202020204" pitchFamily="34" charset="0"/>
                <a:cs typeface="Arial" panose="020B0604020202020204" pitchFamily="34" charset="0"/>
              </a:rPr>
              <a:t>    Kurumsal yapılanmaya ilişkin eksiklikler giderilecek</a:t>
            </a:r>
            <a:endParaRPr lang="tr-TR">
              <a:latin typeface="Arial" panose="020B0604020202020204" pitchFamily="34" charset="0"/>
              <a:cs typeface="Arial" panose="020B0604020202020204" pitchFamily="34" charset="0"/>
            </a:endParaRPr>
          </a:p>
          <a:p>
            <a:pPr>
              <a:buFont typeface="Wingdings" panose="05000000000000000000" charset="0"/>
              <a:buChar char="Ø"/>
            </a:pPr>
            <a:r>
              <a:rPr lang="tr-TR">
                <a:latin typeface="Arial" panose="020B0604020202020204" pitchFamily="34" charset="0"/>
                <a:cs typeface="Arial" panose="020B0604020202020204" pitchFamily="34" charset="0"/>
              </a:rPr>
              <a:t>    Uzun vadede mülk edinimine ilişkin planlama yapılacak</a:t>
            </a:r>
            <a:endParaRPr lang="tr-TR">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67790" y="2676525"/>
            <a:ext cx="7335520" cy="631190"/>
          </a:xfrm>
        </p:spPr>
        <p:txBody>
          <a:bodyPr>
            <a:noAutofit/>
          </a:bodyPr>
          <a:p>
            <a:r>
              <a:rPr lang="tr-TR" altLang="en-US" sz="4400">
                <a:solidFill>
                  <a:srgbClr val="00B0F0"/>
                </a:solidFill>
                <a:latin typeface="Arial" panose="020B0604020202020204" pitchFamily="34" charset="0"/>
                <a:cs typeface="Arial" panose="020B0604020202020204" pitchFamily="34" charset="0"/>
                <a:sym typeface="+mn-ea"/>
              </a:rPr>
              <a:t>TEŞEKKÜRLER</a:t>
            </a:r>
            <a:endParaRPr lang="tr-TR" altLang="en-US" sz="4400">
              <a:solidFill>
                <a:srgbClr val="00B0F0"/>
              </a:solidFill>
              <a:latin typeface="Arial" panose="020B0604020202020204" pitchFamily="34" charset="0"/>
              <a:cs typeface="Arial" panose="020B0604020202020204" pitchFamily="34" charset="0"/>
              <a:sym typeface="+mn-ea"/>
            </a:endParaRPr>
          </a:p>
        </p:txBody>
      </p:sp>
    </p:spTree>
  </p:cSld>
  <p:clrMapOvr>
    <a:masterClrMapping/>
  </p:clrMapOvr>
</p:sld>
</file>

<file path=ppt/tags/tag1.xml><?xml version="1.0" encoding="utf-8"?>
<p:tagLst xmlns:p="http://schemas.openxmlformats.org/presentationml/2006/main">
  <p:tag name="TABLE_ENDDRAG_ORIGIN_RECT" val="745*460"/>
  <p:tag name="TABLE_ENDDRAG_RECT" val="29*20*745*460"/>
</p:tagLst>
</file>

<file path=ppt/tags/tag2.xml><?xml version="1.0" encoding="utf-8"?>
<p:tagLst xmlns:p="http://schemas.openxmlformats.org/presentationml/2006/main">
  <p:tag name="TABLE_ENDDRAG_ORIGIN_RECT" val="681*243"/>
  <p:tag name="TABLE_ENDDRAG_RECT" val="71*81*681*243"/>
</p:tagLst>
</file>

<file path=ppt/tags/tag3.xml><?xml version="1.0" encoding="utf-8"?>
<p:tagLst xmlns:p="http://schemas.openxmlformats.org/presentationml/2006/main">
  <p:tag name="TABLE_ENDDRAG_ORIGIN_RECT" val="681*118"/>
  <p:tag name="TABLE_ENDDRAG_RECT" val="71*348*681*118"/>
</p:tagLst>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4.xml><?xml version="1.0" encoding="utf-8"?>
<ds:datastoreItem xmlns:ds="http://schemas.openxmlformats.org/officeDocument/2006/customXml" ds:itemID="{79B0F2AC-8567-4D03-BFFC-653DB596C528}">
  <ds:schemaRefs/>
</ds:datastoreItem>
</file>

<file path=customXml/itemProps5.xml><?xml version="1.0" encoding="utf-8"?>
<ds:datastoreItem xmlns:ds="http://schemas.openxmlformats.org/officeDocument/2006/customXml" ds:itemID="{350455F8-10A0-4EEF-9BB1-9035E295B165}">
  <ds:schemaRefs/>
</ds:datastoreItem>
</file>

<file path=customXml/itemProps6.xml><?xml version="1.0" encoding="utf-8"?>
<ds:datastoreItem xmlns:ds="http://schemas.openxmlformats.org/officeDocument/2006/customXml" ds:itemID="{7C2F7BF6-CD39-4568-B8BD-EA8D252E100B}">
  <ds:schemaRefs/>
</ds:datastoreItem>
</file>

<file path=docProps/app.xml><?xml version="1.0" encoding="utf-8"?>
<Properties xmlns="http://schemas.openxmlformats.org/officeDocument/2006/extended-properties" xmlns:vt="http://schemas.openxmlformats.org/officeDocument/2006/docPropsVTypes">
  <Template>Madison</Template>
  <TotalTime>0</TotalTime>
  <Words>12224</Words>
  <Application>WPS Slides</Application>
  <PresentationFormat>Geniş ekran</PresentationFormat>
  <Paragraphs>439</Paragraphs>
  <Slides>19</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Calibri</vt:lpstr>
      <vt:lpstr>Arial</vt:lpstr>
      <vt:lpstr>Roboto Condensed</vt:lpstr>
      <vt:lpstr>Wingdings</vt:lpstr>
      <vt:lpstr>Neue Haas Grotesk Text Pro</vt:lpstr>
      <vt:lpstr>Segoe Print</vt:lpstr>
      <vt:lpstr>Microsoft YaHei</vt:lpstr>
      <vt:lpstr>Arial Unicode MS</vt:lpstr>
      <vt:lpstr>PunchcardVTI</vt:lpstr>
      <vt:lpstr>BİOS MAKİNA GRUBU  FİNANSAL ANALİZ RAPORU</vt:lpstr>
      <vt:lpstr>PowerPoint 演示文稿</vt:lpstr>
      <vt:lpstr>BİOS MAKİNA GELİR TABLOSU VE BİLANÇO ANALİZİ</vt:lpstr>
      <vt:lpstr>GELİR TABLOSU BİLGİLERİ;</vt:lpstr>
      <vt:lpstr>PowerPoint 演示文稿</vt:lpstr>
      <vt:lpstr>BİLANÇOYA İLİŞKİN BİLGİLER:</vt:lpstr>
      <vt:lpstr>RASYOLAR</vt:lpstr>
      <vt:lpstr>GÜÇLÜ YÖNLER:</vt:lpstr>
      <vt:lpstr>GELİŞMESİ GEREKEN YÖNLER:</vt:lpstr>
      <vt:lpstr>GÜNCEL BANKA LİMİT-RİSK DURUMU</vt:lpstr>
      <vt:lpstr>RİSKLER:</vt:lpstr>
      <vt:lpstr>ALINACAK AKSİYONLAR:  MALİ YAPI</vt:lpstr>
      <vt:lpstr>ALINACAK AKSİYONLAR:  MALİ YAPI</vt:lpstr>
      <vt:lpstr>ALINACAK AKSİYONLAR:  MALİ YAPI</vt:lpstr>
      <vt:lpstr>ALINACAK AKSİYONLAR:  KREDİBİLİTE</vt:lpstr>
      <vt:lpstr>ALINACAK AKSİYONLAR:  ÖZKAYNAKLAR</vt:lpstr>
      <vt:lpstr>ALINACAK AKSİYONLAR:  </vt:lpstr>
      <vt:lpstr>ALINACAK AKSİYONLAR:  </vt:lpstr>
      <vt:lpstr>TEŞEKKÜRLER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
  <cp:lastModifiedBy>Adem Soylu</cp:lastModifiedBy>
  <cp:revision>104</cp:revision>
  <dcterms:created xsi:type="dcterms:W3CDTF">2024-03-14T17:04:00Z</dcterms:created>
  <dcterms:modified xsi:type="dcterms:W3CDTF">2025-04-10T15:34:14Z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79AD937D217A477384CA38799B3BEF47_12</vt:lpwstr>
  </property>
  <property fmtid="{D5CDD505-2E9C-101B-9397-08002B2CF9AE}" pid="4" name="KSOProductBuildVer">
    <vt:lpwstr>1033-12.2.0.20782</vt:lpwstr>
  </property>
</Properties>
</file>